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>Synthetic authored principle.</a:t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82F48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quarterly plann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A QUARTER OF FOCUS, NOT A LIST OF ACTIVITIES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The context for quarterly planning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This fictional team needs a decision it can explain, execute, and revisit. Activity reports bury the outcomes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that need a decision.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A QUARTER OF FOCUS, NOT A LIST OF ACTIVITIES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The problem is the missing decision boundary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Activity reports bury the outcomes that need a decision.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A QUARTER OF FOCUS, NOT A LIST OF ACTIVITIES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Evidence to gather before committing</a:t>
            </a:r>
            <a:endParaRPr lang="en-US" sz="3400"/>
          </a:p>
        </p:txBody>
      </p:sp>
      <p:graphicFrame>
        <p:nvGraphicFramePr>
          <p:cNvPr id="4" name="Table 4" descr="Synthetic review checkpoints and source responsibilities."/>
          <p:cNvGraphicFramePr/>
          <p:nvPr/>
        </p:nvGraphicFramePr>
        <p:xfrm>
          <a:off x="558800" y="2336800"/>
          <a:ext cx="11074400" cy="3606800"/>
        </p:xfrm>
        <a:graphic>
          <a:graphicData uri="http://schemas.openxmlformats.org/drawingml/2006/table">
            <a:tbl>
              <a:tblPr firstRow="1" bandRow="1"/>
              <a:tblGrid>
                <a:gridCol w="3691467"/>
                <a:gridCol w="3691467"/>
                <a:gridCol w="3691467"/>
              </a:tblGrid>
              <a:tr h="9017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Checkpoint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EBF1F7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Owner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EBF1F7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Evidence to inspect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EBF1F7"/>
                    </a:solidFill>
                  </a:tcPr>
                </a:tc>
              </a:tr>
              <a:tr h="9017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Baseline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Operations lead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Current workflow notes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9017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Pilot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Operations lead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Observed handoff or task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9017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Review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Decision sponsor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44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182F48"/>
                          </a:solidFill>
                          <a:latin typeface="Carlito"/>
                        </a:rPr>
                        <a:t xml:space="preserve">Bounded continuation decision</a:t>
                      </a:r>
                      <a:endParaRPr lang="en-US" sz="2000"/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A QUARTER OF FOCUS, NOT A LIST OF ACTIVITIES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Two paths make the trade-off explicit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5588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620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Increase the initiative count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620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Faster to start, with the current operating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limitations.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Concentrate on one retention workflow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More focused initial work, with a clearer review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boundary.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A QUARTER OF FOCUS, NOT A LIST OF ACTIVITIES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Recommend the bounded path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Fund one retention experiment and stop two low-evidence initiatives.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Keep the reasoning inspec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A QUARTER OF FOCUS, NOT A LIST OF ACTIVITIES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Keep the reasoning inspectable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299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526"/>
              </a:lnSpc>
              <a:buNone/>
            </a:pPr>
            <a:r>
              <a:rPr lang="en-US" sz="2890" b="0" i="0">
                <a:solidFill>
                  <a:srgbClr val="182F48"/>
                </a:solidFill>
                <a:latin typeface="Carlito"/>
              </a:rPr>
              <a:t xml:space="preserve">A decision should keep its supporting evidence and unresolved </a:t>
            </a:r>
            <a:endParaRPr lang="en-US" sz="2890"/>
          </a:p>
          <a:p>
            <a:pPr>
              <a:lnSpc>
                <a:spcPts val="3526"/>
              </a:lnSpc>
              <a:buNone/>
            </a:pPr>
            <a:r>
              <a:rPr lang="en-US" sz="2890" b="0" i="0">
                <a:solidFill>
                  <a:srgbClr val="182F48"/>
                </a:solidFill>
                <a:latin typeface="Carlito"/>
              </a:rPr>
              <a:t xml:space="preserve">assumptions in view.</a:t>
            </a:r>
            <a:endParaRPr lang="en-US" sz="2890"/>
          </a:p>
        </p:txBody>
      </p:sp>
      <p:sp>
        <p:nvSpPr>
          <p:cNvPr id="5" name="Text 5"/>
          <p:cNvSpPr txBox="1"/>
          <p:nvPr/>
        </p:nvSpPr>
        <p:spPr>
          <a:xfrm>
            <a:off x="558800" y="5435600"/>
            <a:ext cx="11074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4F667B"/>
                </a:solidFill>
                <a:latin typeface="Carlito"/>
              </a:rPr>
              <a:t xml:space="preserve">Authored synthetic principle — not a customer quotation</a:t>
            </a:r>
            <a:endParaRPr lang="en-US" sz="2000"/>
          </a:p>
        </p:txBody>
      </p:sp>
      <p:sp>
        <p:nvSpPr>
          <p:cNvPr id="6" name="Shape 6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8" name="Text 8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A QUARTER OF FOCUS, NOT A LIST OF ACTIVITIES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Risks to review before expansion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558800" y="2336800"/>
            <a:ext cx="11074400" cy="360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Keep the scope narrow. Check whether the new workflow adds manual effort or moves risk elsewhere.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Record the unresolved question instead of treating an assumption as a finding.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8800" y="304800"/>
            <a:ext cx="1107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4F667B"/>
                </a:solidFill>
                <a:latin typeface="Carlito"/>
              </a:rPr>
              <a:t xml:space="preserve">A QUARTER OF FOCUS, NOT A LIST OF ACTIVITIES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558800" y="762000"/>
            <a:ext cx="110744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182F48"/>
                </a:solidFill>
                <a:latin typeface="Carlito"/>
              </a:rPr>
              <a:t xml:space="preserve">Next action: approve the pilot and own the review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5588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620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Owner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7620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Operations lead owns the first milestone and its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evidence.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422900" cy="3606800"/>
          </a:xfrm>
          <a:prstGeom prst="roundRect">
            <a:avLst/>
          </a:prstGeom>
          <a:solidFill>
            <a:srgbClr val="EBF1F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50165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182F48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5016500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Inspect the pilot evidence before approving the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182F48"/>
                </a:solidFill>
                <a:latin typeface="Carlito"/>
              </a:rPr>
              <a:t xml:space="preserve">next stage.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558800" y="6375400"/>
            <a:ext cx="11074400" cy="6350"/>
          </a:xfrm>
          <a:prstGeom prst="line">
            <a:avLst/>
          </a:prstGeom>
          <a:noFill/>
          <a:ln w="6350">
            <a:solidFill>
              <a:srgbClr val="4F667B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8800" y="6502400"/>
            <a:ext cx="1031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617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4F667B"/>
                </a:solidFill>
                <a:latin typeface="Carlito"/>
              </a:rPr>
              <a:t xml:space="preserve">08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lting">
  <a:themeElements>
    <a:clrScheme name="Storyboard">
      <a:dk1>
        <a:srgbClr val="182F48"/>
      </a:dk1>
      <a:lt1>
        <a:srgbClr val="FFFFFF"/>
      </a:lt1>
      <a:dk2>
        <a:srgbClr val="4F667B"/>
      </a:dk2>
      <a:lt2>
        <a:srgbClr val="EBF1F7"/>
      </a:lt2>
      <a:accent1>
        <a:srgbClr val="1865A6"/>
      </a:accent1>
      <a:accent2>
        <a:srgbClr val="4F667B"/>
      </a:accent2>
      <a:accent3>
        <a:srgbClr val="1865A6"/>
      </a:accent3>
      <a:accent4>
        <a:srgbClr val="182F48"/>
      </a:accent4>
      <a:accent5>
        <a:srgbClr val="4F667B"/>
      </a:accent5>
      <a:accent6>
        <a:srgbClr val="1865A6"/>
      </a:accent6>
      <a:hlink>
        <a:srgbClr val="1865A6"/>
      </a:hlink>
      <a:folHlink>
        <a:srgbClr val="4F667B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8</Slides>
  <Notes>8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A quarter of focus, not a list of activities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07d17dcd19f25a5aba377fbb5887f744c907a6daf37819d7302aba17eefefd57</vt:lpwstr>
  </property>
</Properties>
</file>