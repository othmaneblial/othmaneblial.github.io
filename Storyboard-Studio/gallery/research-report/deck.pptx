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Default Extension="jpeg" ContentType="image/jpeg"/>
  <Default Extension="xlsx" ContentType="application/vnd.openxmlformats-officedocument.spreadsheetml.sheet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heme/theme1.xml" ContentType="application/vnd.openxmlformats-officedocument.theme+xml"/>
  <Override PartName="/docProps/core.xml" ContentType="application/vnd.openxmlformats-package.core-properties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>
  <p:sldMasterIdLst>
    <p:sldMasterId id="2147483648" r:id="rId1"/>
  </p:sldMasterIdLst>
  <p:notesMasterIdLst>
    <p:notesMasterId r:id="rId2"/>
  </p:notes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</p:sldIdLst>
  <p:sldSz cx="12192000" cy="6858000" type="screen16x9"/>
  <p:notesSz cx="6858000" cy="9144000"/>
  <p:defaultTextStyle/>
</p:presentation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lt2" folHlink="folHlink" hlink="hlink" tx1="dk1" tx2="dk2"/>
  <p:notesStyle/>
</p:notesMaster>
</file>

<file path=ppt/notesSlides/_rels/notesSlide1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peaker notes"/>
          <p:cNvSpPr/>
          <p:nvPr>
            <p:ph type="body" idx="1"/>
          </p:nvPr>
        </p:nvSpPr>
        <p:spPr/>
        <p:txBody>
          <a:bodyPr/>
          <a:lstStyle/>
          <a:p>
            <a:pPr>
              <a:lnSpc>
                <a:spcPts val="1464"/>
              </a:lnSpc>
              <a:buNone/>
            </a:pPr>
            <a:r>
              <a:rPr lang="en-US" sz="1200" b="0" i="0">
                <a:solidFill>
                  <a:srgbClr val="252F3A"/>
                </a:solidFill>
                <a:latin typeface="Carlito"/>
              </a:rPr>
              <a:t xml:space="preserve">Synthetic scenario. Figures, roles and organizations are invented to demonstrate the renderer.
</a:t>
            </a:r>
            <a:endParaRPr lang="en-US" sz="120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peaker notes"/>
          <p:cNvSpPr/>
          <p:nvPr>
            <p:ph type="body" idx="1"/>
          </p:nvPr>
        </p:nvSpPr>
        <p:spPr/>
        <p:txBody>
          <a:bodyPr/>
          <a:lstStyle/>
          <a:p>
            <a:pPr>
              <a:lnSpc>
                <a:spcPts val="1464"/>
              </a:lnSpc>
              <a:buNone/>
            </a:pPr>
            <a:r>
              <a:rPr lang="en-US" sz="1200" b="0" i="0">
                <a:solidFill>
                  <a:srgbClr val="252F3A"/>
                </a:solidFill>
                <a:latin typeface="Carlito"/>
              </a:rPr>
              <a:t xml:space="preserve"/>
            </a:r>
            <a:endParaRPr lang="en-US" sz="120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peaker notes"/>
          <p:cNvSpPr/>
          <p:nvPr>
            <p:ph type="body" idx="1"/>
          </p:nvPr>
        </p:nvSpPr>
        <p:spPr/>
        <p:txBody>
          <a:bodyPr/>
          <a:lstStyle/>
          <a:p>
            <a:pPr>
              <a:lnSpc>
                <a:spcPts val="1464"/>
              </a:lnSpc>
              <a:buNone/>
            </a:pPr>
            <a:r>
              <a:rPr lang="en-US" sz="1200" b="0" i="0">
                <a:solidFill>
                  <a:srgbClr val="252F3A"/>
                </a:solidFill>
                <a:latin typeface="Carlito"/>
              </a:rPr>
              <a:t xml:space="preserve">Synthetic process diagram represented by editable native cards.</a:t>
            </a:r>
            <a:endParaRPr lang="en-US" sz="120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peaker notes"/>
          <p:cNvSpPr/>
          <p:nvPr>
            <p:ph type="body" idx="1"/>
          </p:nvPr>
        </p:nvSpPr>
        <p:spPr/>
        <p:txBody>
          <a:bodyPr/>
          <a:lstStyle/>
          <a:p>
            <a:pPr>
              <a:lnSpc>
                <a:spcPts val="1464"/>
              </a:lnSpc>
              <a:buNone/>
            </a:pPr>
            <a:r>
              <a:rPr lang="en-US" sz="1200" b="0" i="0">
                <a:solidFill>
                  <a:srgbClr val="252F3A"/>
                </a:solidFill>
                <a:latin typeface="Carlito"/>
              </a:rPr>
              <a:t xml:space="preserve">
Source: Synthetic gallery input · Authored fixture · No real customer, market or investment results are claimed. · author-confirmed: false</a:t>
            </a:r>
            <a:endParaRPr lang="en-US" sz="120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peaker notes"/>
          <p:cNvSpPr/>
          <p:nvPr>
            <p:ph type="body" idx="1"/>
          </p:nvPr>
        </p:nvSpPr>
        <p:spPr/>
        <p:txBody>
          <a:bodyPr/>
          <a:lstStyle/>
          <a:p>
            <a:pPr>
              <a:lnSpc>
                <a:spcPts val="1464"/>
              </a:lnSpc>
              <a:buNone/>
            </a:pPr>
            <a:r>
              <a:rPr lang="en-US" sz="1200" b="0" i="0">
                <a:solidFill>
                  <a:srgbClr val="252F3A"/>
                </a:solidFill>
                <a:latin typeface="Carlito"/>
              </a:rPr>
              <a:t xml:space="preserve"/>
            </a:r>
            <a:endParaRPr lang="en-US" sz="120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peaker notes"/>
          <p:cNvSpPr/>
          <p:nvPr>
            <p:ph type="body" idx="1"/>
          </p:nvPr>
        </p:nvSpPr>
        <p:spPr/>
        <p:txBody>
          <a:bodyPr/>
          <a:lstStyle/>
          <a:p>
            <a:pPr>
              <a:lnSpc>
                <a:spcPts val="1464"/>
              </a:lnSpc>
              <a:buNone/>
            </a:pPr>
            <a:r>
              <a:rPr lang="en-US" sz="1200" b="0" i="0">
                <a:solidFill>
                  <a:srgbClr val="252F3A"/>
                </a:solidFill>
                <a:latin typeface="Carlito"/>
              </a:rPr>
              <a:t xml:space="preserve"/>
            </a:r>
            <a:endParaRPr lang="en-US" sz="120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peaker notes"/>
          <p:cNvSpPr/>
          <p:nvPr>
            <p:ph type="body" idx="1"/>
          </p:nvPr>
        </p:nvSpPr>
        <p:spPr/>
        <p:txBody>
          <a:bodyPr/>
          <a:lstStyle/>
          <a:p>
            <a:pPr>
              <a:lnSpc>
                <a:spcPts val="1464"/>
              </a:lnSpc>
              <a:buNone/>
            </a:pPr>
            <a:r>
              <a:rPr lang="en-US" sz="1200" b="0" i="0">
                <a:solidFill>
                  <a:srgbClr val="252F3A"/>
                </a:solidFill>
                <a:latin typeface="Carlito"/>
              </a:rPr>
              <a:t xml:space="preserve"/>
            </a:r>
            <a:endParaRPr lang="en-US" sz="120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peaker notes"/>
          <p:cNvSpPr/>
          <p:nvPr>
            <p:ph type="body" idx="1"/>
          </p:nvPr>
        </p:nvSpPr>
        <p:spPr/>
        <p:txBody>
          <a:bodyPr/>
          <a:lstStyle/>
          <a:p>
            <a:pPr>
              <a:lnSpc>
                <a:spcPts val="1464"/>
              </a:lnSpc>
              <a:buNone/>
            </a:pPr>
            <a:r>
              <a:rPr lang="en-US" sz="1200" b="0" i="0">
                <a:solidFill>
                  <a:srgbClr val="252F3A"/>
                </a:solidFill>
                <a:latin typeface="Carlito"/>
              </a:rPr>
              <a:t xml:space="preserve"/>
            </a:r>
            <a:endParaRPr lang="en-US" sz="1200"/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</p:sldLayoutIdLst>
  <p:txStyles>
    <p:titleStyle/>
    <p:bodyStyle/>
    <p:otherStyle/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 name="The context for research synthesis">
    <p:bg>
      <p:bgPr>
        <a:solidFill>
          <a:srgbClr val="F8F7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/>
        </p:nvSpPr>
        <p:spPr>
          <a:xfrm>
            <a:off x="660400" y="304800"/>
            <a:ext cx="10871200" cy="279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lnSpc>
                <a:spcPts val="1342"/>
              </a:lnSpc>
              <a:buNone/>
            </a:pPr>
            <a:r>
              <a:rPr lang="en-US" sz="1100" b="0" i="0">
                <a:solidFill>
                  <a:srgbClr val="566473"/>
                </a:solidFill>
                <a:latin typeface="Carlito"/>
              </a:rPr>
              <a:t xml:space="preserve">WHAT THE PILOT CAN AND CANNOT TELL US  /  CONTEXT</a:t>
            </a:r>
            <a:endParaRPr lang="en-US" sz="1100"/>
          </a:p>
        </p:txBody>
      </p:sp>
      <p:sp>
        <p:nvSpPr>
          <p:cNvPr id="3" name="Text 3"/>
          <p:cNvSpPr txBox="1"/>
          <p:nvPr/>
        </p:nvSpPr>
        <p:spPr>
          <a:xfrm>
            <a:off x="660400" y="762000"/>
            <a:ext cx="10871200" cy="1295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lnSpc>
                <a:spcPts val="4148"/>
              </a:lnSpc>
              <a:buNone/>
            </a:pPr>
            <a:r>
              <a:rPr lang="en-US" sz="3400" b="1" i="0">
                <a:solidFill>
                  <a:srgbClr val="252F3A"/>
                </a:solidFill>
                <a:latin typeface="Carlito"/>
              </a:rPr>
              <a:t xml:space="preserve">The context for research synthesis</a:t>
            </a:r>
            <a:endParaRPr lang="en-US" sz="3400"/>
          </a:p>
        </p:txBody>
      </p:sp>
      <p:sp>
        <p:nvSpPr>
          <p:cNvPr id="4" name="Text 4"/>
          <p:cNvSpPr txBox="1"/>
          <p:nvPr/>
        </p:nvSpPr>
        <p:spPr>
          <a:xfrm>
            <a:off x="660400" y="2336800"/>
            <a:ext cx="10871200" cy="3505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lnSpc>
                <a:spcPts val="2440"/>
              </a:lnSpc>
              <a:buNone/>
            </a:pPr>
            <a:r>
              <a:rPr lang="en-US" sz="2000" b="0" i="0">
                <a:solidFill>
                  <a:srgbClr val="252F3A"/>
                </a:solidFill>
                <a:latin typeface="Carlito"/>
              </a:rPr>
              <a:t xml:space="preserve">This fictional team needs a decision it can explain, execute, and revisit. Observed notes and hypotheses </a:t>
            </a:r>
            <a:endParaRPr lang="en-US" sz="2000"/>
          </a:p>
          <a:p>
            <a:pPr>
              <a:lnSpc>
                <a:spcPts val="2440"/>
              </a:lnSpc>
              <a:buNone/>
            </a:pPr>
            <a:r>
              <a:rPr lang="en-US" sz="2000" b="0" i="0">
                <a:solidFill>
                  <a:srgbClr val="252F3A"/>
                </a:solidFill>
                <a:latin typeface="Carlito"/>
              </a:rPr>
              <a:t xml:space="preserve">are mixed in the same summary.</a:t>
            </a:r>
            <a:endParaRPr lang="en-US" sz="2000"/>
          </a:p>
        </p:txBody>
      </p:sp>
      <p:sp>
        <p:nvSpPr>
          <p:cNvPr id="5" name="Shape 5"/>
          <p:cNvSpPr/>
          <p:nvPr/>
        </p:nvSpPr>
        <p:spPr>
          <a:xfrm>
            <a:off x="660400" y="6375400"/>
            <a:ext cx="10871200" cy="6350"/>
          </a:xfrm>
          <a:prstGeom prst="line">
            <a:avLst/>
          </a:prstGeom>
          <a:noFill/>
          <a:ln w="6350">
            <a:solidFill>
              <a:srgbClr val="566473"/>
            </a:solidFill>
            <a:prstDash val="solid"/>
          </a:ln>
        </p:spPr>
      </p:sp>
      <p:sp>
        <p:nvSpPr>
          <p:cNvPr id="6" name="Text 6"/>
          <p:cNvSpPr txBox="1"/>
          <p:nvPr/>
        </p:nvSpPr>
        <p:spPr>
          <a:xfrm>
            <a:off x="660400" y="6502400"/>
            <a:ext cx="101092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lnSpc>
                <a:spcPts val="1220"/>
              </a:lnSpc>
              <a:buNone/>
            </a:pPr>
            <a:r>
              <a:rPr lang="en-US" sz="1000" b="0" i="0">
                <a:solidFill>
                  <a:srgbClr val="566473"/>
                </a:solidFill>
                <a:latin typeface="Carlito"/>
              </a:rPr>
              <a:t xml:space="preserve">SYNTHETIC EXAMPLE  ·  STORYBOARD STUDIO</a:t>
            </a:r>
            <a:endParaRPr lang="en-US" sz="1000"/>
          </a:p>
        </p:txBody>
      </p:sp>
      <p:sp>
        <p:nvSpPr>
          <p:cNvPr id="7" name="Text 7"/>
          <p:cNvSpPr txBox="1"/>
          <p:nvPr/>
        </p:nvSpPr>
        <p:spPr>
          <a:xfrm>
            <a:off x="10960100" y="6502400"/>
            <a:ext cx="5715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lnSpc>
                <a:spcPts val="1220"/>
              </a:lnSpc>
              <a:buNone/>
            </a:pPr>
            <a:r>
              <a:rPr lang="en-US" sz="1000" b="0" i="0">
                <a:solidFill>
                  <a:srgbClr val="566473"/>
                </a:solidFill>
                <a:latin typeface="Carlito"/>
              </a:rPr>
              <a:t xml:space="preserve">01</a:t>
            </a:r>
            <a:endParaRPr lang="en-US" sz="10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 name="The problem is the missing decision boundary">
    <p:bg>
      <p:bgPr>
        <a:solidFill>
          <a:srgbClr val="F8F7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/>
        </p:nvSpPr>
        <p:spPr>
          <a:xfrm>
            <a:off x="660400" y="304800"/>
            <a:ext cx="10871200" cy="279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lnSpc>
                <a:spcPts val="1342"/>
              </a:lnSpc>
              <a:buNone/>
            </a:pPr>
            <a:r>
              <a:rPr lang="en-US" sz="1100" b="0" i="0">
                <a:solidFill>
                  <a:srgbClr val="566473"/>
                </a:solidFill>
                <a:latin typeface="Carlito"/>
              </a:rPr>
              <a:t xml:space="preserve">WHAT THE PILOT CAN AND CANNOT TELL US  /  RECOMMENDATION</a:t>
            </a:r>
            <a:endParaRPr lang="en-US" sz="1100"/>
          </a:p>
        </p:txBody>
      </p:sp>
      <p:sp>
        <p:nvSpPr>
          <p:cNvPr id="3" name="Text 3"/>
          <p:cNvSpPr txBox="1"/>
          <p:nvPr/>
        </p:nvSpPr>
        <p:spPr>
          <a:xfrm>
            <a:off x="660400" y="762000"/>
            <a:ext cx="10871200" cy="1295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lnSpc>
                <a:spcPts val="4148"/>
              </a:lnSpc>
              <a:buNone/>
            </a:pPr>
            <a:r>
              <a:rPr lang="en-US" sz="3400" b="1" i="0">
                <a:solidFill>
                  <a:srgbClr val="252F3A"/>
                </a:solidFill>
                <a:latin typeface="Carlito"/>
              </a:rPr>
              <a:t xml:space="preserve">The problem is the missing decision boundary</a:t>
            </a:r>
            <a:endParaRPr lang="en-US" sz="3400"/>
          </a:p>
        </p:txBody>
      </p:sp>
      <p:sp>
        <p:nvSpPr>
          <p:cNvPr id="4" name="Text 4"/>
          <p:cNvSpPr txBox="1"/>
          <p:nvPr/>
        </p:nvSpPr>
        <p:spPr>
          <a:xfrm>
            <a:off x="660400" y="2336800"/>
            <a:ext cx="10871200" cy="3505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lnSpc>
                <a:spcPts val="2440"/>
              </a:lnSpc>
              <a:buNone/>
            </a:pPr>
            <a:r>
              <a:rPr lang="en-US" sz="2000" b="0" i="0">
                <a:solidFill>
                  <a:srgbClr val="252F3A"/>
                </a:solidFill>
                <a:latin typeface="Carlito"/>
              </a:rPr>
              <a:t xml:space="preserve">Observed notes and hypotheses are mixed in the same summary.</a:t>
            </a:r>
            <a:endParaRPr lang="en-US" sz="2000"/>
          </a:p>
        </p:txBody>
      </p:sp>
      <p:sp>
        <p:nvSpPr>
          <p:cNvPr id="5" name="Shape 5"/>
          <p:cNvSpPr/>
          <p:nvPr/>
        </p:nvSpPr>
        <p:spPr>
          <a:xfrm>
            <a:off x="660400" y="6375400"/>
            <a:ext cx="10871200" cy="6350"/>
          </a:xfrm>
          <a:prstGeom prst="line">
            <a:avLst/>
          </a:prstGeom>
          <a:noFill/>
          <a:ln w="6350">
            <a:solidFill>
              <a:srgbClr val="566473"/>
            </a:solidFill>
            <a:prstDash val="solid"/>
          </a:ln>
        </p:spPr>
      </p:sp>
      <p:sp>
        <p:nvSpPr>
          <p:cNvPr id="6" name="Text 6"/>
          <p:cNvSpPr txBox="1"/>
          <p:nvPr/>
        </p:nvSpPr>
        <p:spPr>
          <a:xfrm>
            <a:off x="660400" y="6502400"/>
            <a:ext cx="101092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lnSpc>
                <a:spcPts val="1220"/>
              </a:lnSpc>
              <a:buNone/>
            </a:pPr>
            <a:r>
              <a:rPr lang="en-US" sz="1000" b="0" i="0">
                <a:solidFill>
                  <a:srgbClr val="566473"/>
                </a:solidFill>
                <a:latin typeface="Carlito"/>
              </a:rPr>
              <a:t xml:space="preserve">SYNTHETIC EXAMPLE  ·  STORYBOARD STUDIO</a:t>
            </a:r>
            <a:endParaRPr lang="en-US" sz="1000"/>
          </a:p>
        </p:txBody>
      </p:sp>
      <p:sp>
        <p:nvSpPr>
          <p:cNvPr id="7" name="Text 7"/>
          <p:cNvSpPr txBox="1"/>
          <p:nvPr/>
        </p:nvSpPr>
        <p:spPr>
          <a:xfrm>
            <a:off x="10960100" y="6502400"/>
            <a:ext cx="5715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lnSpc>
                <a:spcPts val="1220"/>
              </a:lnSpc>
              <a:buNone/>
            </a:pPr>
            <a:r>
              <a:rPr lang="en-US" sz="1000" b="0" i="0">
                <a:solidFill>
                  <a:srgbClr val="566473"/>
                </a:solidFill>
                <a:latin typeface="Carlito"/>
              </a:rPr>
              <a:t xml:space="preserve">02</a:t>
            </a:r>
            <a:endParaRPr lang="en-US" sz="10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 name="A smaller boundary makes the work reviewable">
    <p:bg>
      <p:bgPr>
        <a:solidFill>
          <a:srgbClr val="F8F7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/>
        </p:nvSpPr>
        <p:spPr>
          <a:xfrm>
            <a:off x="660400" y="304800"/>
            <a:ext cx="10871200" cy="279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lnSpc>
                <a:spcPts val="1342"/>
              </a:lnSpc>
              <a:buNone/>
            </a:pPr>
            <a:r>
              <a:rPr lang="en-US" sz="1100" b="0" i="0">
                <a:solidFill>
                  <a:srgbClr val="566473"/>
                </a:solidFill>
                <a:latin typeface="Carlito"/>
              </a:rPr>
              <a:t xml:space="preserve">WHAT THE PILOT CAN AND CANNOT TELL US  /  PROBLEM</a:t>
            </a:r>
            <a:endParaRPr lang="en-US" sz="1100"/>
          </a:p>
        </p:txBody>
      </p:sp>
      <p:sp>
        <p:nvSpPr>
          <p:cNvPr id="3" name="Text 3"/>
          <p:cNvSpPr txBox="1"/>
          <p:nvPr/>
        </p:nvSpPr>
        <p:spPr>
          <a:xfrm>
            <a:off x="660400" y="762000"/>
            <a:ext cx="10871200" cy="1295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lnSpc>
                <a:spcPts val="4148"/>
              </a:lnSpc>
              <a:buNone/>
            </a:pPr>
            <a:r>
              <a:rPr lang="en-US" sz="3400" b="1" i="0">
                <a:solidFill>
                  <a:srgbClr val="252F3A"/>
                </a:solidFill>
                <a:latin typeface="Carlito"/>
              </a:rPr>
              <a:t xml:space="preserve">A smaller boundary makes the work reviewable</a:t>
            </a:r>
            <a:endParaRPr lang="en-US" sz="3400"/>
          </a:p>
        </p:txBody>
      </p:sp>
      <p:sp>
        <p:nvSpPr>
          <p:cNvPr id="4" name="Shape 4"/>
          <p:cNvSpPr/>
          <p:nvPr/>
        </p:nvSpPr>
        <p:spPr>
          <a:xfrm>
            <a:off x="660400" y="2336800"/>
            <a:ext cx="3471333" cy="3505200"/>
          </a:xfrm>
          <a:prstGeom prst="roundRect">
            <a:avLst/>
          </a:prstGeom>
          <a:solidFill>
            <a:srgbClr val="E8ECED"/>
          </a:solidFill>
          <a:ln>
            <a:noFill/>
          </a:ln>
        </p:spPr>
      </p:sp>
      <p:sp>
        <p:nvSpPr>
          <p:cNvPr id="5" name="Text 5"/>
          <p:cNvSpPr txBox="1"/>
          <p:nvPr/>
        </p:nvSpPr>
        <p:spPr>
          <a:xfrm>
            <a:off x="863600" y="2540000"/>
            <a:ext cx="3064933" cy="812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lnSpc>
                <a:spcPts val="2684"/>
              </a:lnSpc>
              <a:buNone/>
            </a:pPr>
            <a:r>
              <a:rPr lang="en-US" sz="2200" b="1" i="0">
                <a:solidFill>
                  <a:srgbClr val="252F3A"/>
                </a:solidFill>
                <a:latin typeface="Carlito"/>
              </a:rPr>
              <a:t xml:space="preserve">Observe</a:t>
            </a:r>
            <a:endParaRPr lang="en-US" sz="2200"/>
          </a:p>
        </p:txBody>
      </p:sp>
      <p:sp>
        <p:nvSpPr>
          <p:cNvPr id="6" name="Text 6"/>
          <p:cNvSpPr txBox="1"/>
          <p:nvPr/>
        </p:nvSpPr>
        <p:spPr>
          <a:xfrm>
            <a:off x="863600" y="3454400"/>
            <a:ext cx="3064933" cy="2184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lnSpc>
                <a:spcPts val="2440"/>
              </a:lnSpc>
              <a:buNone/>
            </a:pPr>
            <a:r>
              <a:rPr lang="en-US" sz="2000" b="0" i="0">
                <a:solidFill>
                  <a:srgbClr val="252F3A"/>
                </a:solidFill>
                <a:latin typeface="Carlito"/>
              </a:rPr>
              <a:t xml:space="preserve">Start with one actual task.</a:t>
            </a:r>
            <a:endParaRPr lang="en-US" sz="2000"/>
          </a:p>
        </p:txBody>
      </p:sp>
      <p:sp>
        <p:nvSpPr>
          <p:cNvPr id="7" name="Shape 7"/>
          <p:cNvSpPr/>
          <p:nvPr/>
        </p:nvSpPr>
        <p:spPr>
          <a:xfrm>
            <a:off x="4360333" y="2336800"/>
            <a:ext cx="3471333" cy="3505200"/>
          </a:xfrm>
          <a:prstGeom prst="roundRect">
            <a:avLst/>
          </a:prstGeom>
          <a:solidFill>
            <a:srgbClr val="E8ECED"/>
          </a:solidFill>
          <a:ln>
            <a:noFill/>
          </a:ln>
        </p:spPr>
      </p:sp>
      <p:sp>
        <p:nvSpPr>
          <p:cNvPr id="8" name="Text 8"/>
          <p:cNvSpPr txBox="1"/>
          <p:nvPr/>
        </p:nvSpPr>
        <p:spPr>
          <a:xfrm>
            <a:off x="4563533" y="2540000"/>
            <a:ext cx="3064933" cy="812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lnSpc>
                <a:spcPts val="2684"/>
              </a:lnSpc>
              <a:buNone/>
            </a:pPr>
            <a:r>
              <a:rPr lang="en-US" sz="2200" b="1" i="0">
                <a:solidFill>
                  <a:srgbClr val="252F3A"/>
                </a:solidFill>
                <a:latin typeface="Carlito"/>
              </a:rPr>
              <a:t xml:space="preserve">Decide</a:t>
            </a:r>
            <a:endParaRPr lang="en-US" sz="2200"/>
          </a:p>
        </p:txBody>
      </p:sp>
      <p:sp>
        <p:nvSpPr>
          <p:cNvPr id="9" name="Text 9"/>
          <p:cNvSpPr txBox="1"/>
          <p:nvPr/>
        </p:nvSpPr>
        <p:spPr>
          <a:xfrm>
            <a:off x="4563533" y="3454400"/>
            <a:ext cx="3064933" cy="2184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lnSpc>
                <a:spcPts val="2440"/>
              </a:lnSpc>
              <a:buNone/>
            </a:pPr>
            <a:r>
              <a:rPr lang="en-US" sz="2000" b="0" i="0">
                <a:solidFill>
                  <a:srgbClr val="252F3A"/>
                </a:solidFill>
                <a:latin typeface="Carlito"/>
              </a:rPr>
              <a:t xml:space="preserve">Name the trade-off and </a:t>
            </a:r>
            <a:endParaRPr lang="en-US" sz="2000"/>
          </a:p>
          <a:p>
            <a:pPr>
              <a:lnSpc>
                <a:spcPts val="2440"/>
              </a:lnSpc>
              <a:buNone/>
            </a:pPr>
            <a:r>
              <a:rPr lang="en-US" sz="2000" b="0" i="0">
                <a:solidFill>
                  <a:srgbClr val="252F3A"/>
                </a:solidFill>
                <a:latin typeface="Carlito"/>
              </a:rPr>
              <a:t xml:space="preserve">owner.</a:t>
            </a:r>
            <a:endParaRPr lang="en-US" sz="2000"/>
          </a:p>
        </p:txBody>
      </p:sp>
      <p:sp>
        <p:nvSpPr>
          <p:cNvPr id="10" name="Shape 10"/>
          <p:cNvSpPr/>
          <p:nvPr/>
        </p:nvSpPr>
        <p:spPr>
          <a:xfrm>
            <a:off x="8060267" y="2336800"/>
            <a:ext cx="3471333" cy="3505200"/>
          </a:xfrm>
          <a:prstGeom prst="roundRect">
            <a:avLst/>
          </a:prstGeom>
          <a:solidFill>
            <a:srgbClr val="E8ECED"/>
          </a:solidFill>
          <a:ln>
            <a:noFill/>
          </a:ln>
        </p:spPr>
      </p:sp>
      <p:sp>
        <p:nvSpPr>
          <p:cNvPr id="11" name="Text 11"/>
          <p:cNvSpPr txBox="1"/>
          <p:nvPr/>
        </p:nvSpPr>
        <p:spPr>
          <a:xfrm>
            <a:off x="8263467" y="2540000"/>
            <a:ext cx="3064933" cy="812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lnSpc>
                <a:spcPts val="2684"/>
              </a:lnSpc>
              <a:buNone/>
            </a:pPr>
            <a:r>
              <a:rPr lang="en-US" sz="2200" b="1" i="0">
                <a:solidFill>
                  <a:srgbClr val="252F3A"/>
                </a:solidFill>
                <a:latin typeface="Carlito"/>
              </a:rPr>
              <a:t xml:space="preserve">Review</a:t>
            </a:r>
            <a:endParaRPr lang="en-US" sz="2200"/>
          </a:p>
        </p:txBody>
      </p:sp>
      <p:sp>
        <p:nvSpPr>
          <p:cNvPr id="12" name="Text 12"/>
          <p:cNvSpPr txBox="1"/>
          <p:nvPr/>
        </p:nvSpPr>
        <p:spPr>
          <a:xfrm>
            <a:off x="8263467" y="3454400"/>
            <a:ext cx="3064933" cy="2184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lnSpc>
                <a:spcPts val="2440"/>
              </a:lnSpc>
              <a:buNone/>
            </a:pPr>
            <a:r>
              <a:rPr lang="en-US" sz="2000" b="0" i="0">
                <a:solidFill>
                  <a:srgbClr val="252F3A"/>
                </a:solidFill>
                <a:latin typeface="Carlito"/>
              </a:rPr>
              <a:t xml:space="preserve">Inspect the outcome before </a:t>
            </a:r>
            <a:endParaRPr lang="en-US" sz="2000"/>
          </a:p>
          <a:p>
            <a:pPr>
              <a:lnSpc>
                <a:spcPts val="2440"/>
              </a:lnSpc>
              <a:buNone/>
            </a:pPr>
            <a:r>
              <a:rPr lang="en-US" sz="2000" b="0" i="0">
                <a:solidFill>
                  <a:srgbClr val="252F3A"/>
                </a:solidFill>
                <a:latin typeface="Carlito"/>
              </a:rPr>
              <a:t xml:space="preserve">expanding.</a:t>
            </a:r>
            <a:endParaRPr lang="en-US" sz="2000"/>
          </a:p>
        </p:txBody>
      </p:sp>
      <p:sp>
        <p:nvSpPr>
          <p:cNvPr id="13" name="Shape 13"/>
          <p:cNvSpPr/>
          <p:nvPr/>
        </p:nvSpPr>
        <p:spPr>
          <a:xfrm>
            <a:off x="660400" y="6375400"/>
            <a:ext cx="10871200" cy="6350"/>
          </a:xfrm>
          <a:prstGeom prst="line">
            <a:avLst/>
          </a:prstGeom>
          <a:noFill/>
          <a:ln w="6350">
            <a:solidFill>
              <a:srgbClr val="566473"/>
            </a:solidFill>
            <a:prstDash val="solid"/>
          </a:ln>
        </p:spPr>
      </p:sp>
      <p:sp>
        <p:nvSpPr>
          <p:cNvPr id="14" name="Text 14"/>
          <p:cNvSpPr txBox="1"/>
          <p:nvPr/>
        </p:nvSpPr>
        <p:spPr>
          <a:xfrm>
            <a:off x="660400" y="6502400"/>
            <a:ext cx="101092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lnSpc>
                <a:spcPts val="1220"/>
              </a:lnSpc>
              <a:buNone/>
            </a:pPr>
            <a:r>
              <a:rPr lang="en-US" sz="1000" b="0" i="0">
                <a:solidFill>
                  <a:srgbClr val="566473"/>
                </a:solidFill>
                <a:latin typeface="Carlito"/>
              </a:rPr>
              <a:t xml:space="preserve">SYNTHETIC EXAMPLE  ·  STORYBOARD STUDIO</a:t>
            </a:r>
            <a:endParaRPr lang="en-US" sz="1000"/>
          </a:p>
        </p:txBody>
      </p:sp>
      <p:sp>
        <p:nvSpPr>
          <p:cNvPr id="15" name="Text 15"/>
          <p:cNvSpPr txBox="1"/>
          <p:nvPr/>
        </p:nvSpPr>
        <p:spPr>
          <a:xfrm>
            <a:off x="10960100" y="6502400"/>
            <a:ext cx="5715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lnSpc>
                <a:spcPts val="1220"/>
              </a:lnSpc>
              <a:buNone/>
            </a:pPr>
            <a:r>
              <a:rPr lang="en-US" sz="1000" b="0" i="0">
                <a:solidFill>
                  <a:srgbClr val="566473"/>
                </a:solidFill>
                <a:latin typeface="Carlito"/>
              </a:rPr>
              <a:t xml:space="preserve">03</a:t>
            </a:r>
            <a:endParaRPr lang="en-US" sz="10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 name="Evidence to gather before committing">
    <p:bg>
      <p:bgPr>
        <a:solidFill>
          <a:srgbClr val="F8F7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/>
        </p:nvSpPr>
        <p:spPr>
          <a:xfrm>
            <a:off x="660400" y="304800"/>
            <a:ext cx="10871200" cy="279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lnSpc>
                <a:spcPts val="1342"/>
              </a:lnSpc>
              <a:buNone/>
            </a:pPr>
            <a:r>
              <a:rPr lang="en-US" sz="1100" b="0" i="0">
                <a:solidFill>
                  <a:srgbClr val="566473"/>
                </a:solidFill>
                <a:latin typeface="Carlito"/>
              </a:rPr>
              <a:t xml:space="preserve">WHAT THE PILOT CAN AND CANNOT TELL US  /  EVIDENCE</a:t>
            </a:r>
            <a:endParaRPr lang="en-US" sz="1100"/>
          </a:p>
        </p:txBody>
      </p:sp>
      <p:sp>
        <p:nvSpPr>
          <p:cNvPr id="3" name="Text 3"/>
          <p:cNvSpPr txBox="1"/>
          <p:nvPr/>
        </p:nvSpPr>
        <p:spPr>
          <a:xfrm>
            <a:off x="660400" y="762000"/>
            <a:ext cx="10871200" cy="1295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lnSpc>
                <a:spcPts val="4148"/>
              </a:lnSpc>
              <a:buNone/>
            </a:pPr>
            <a:r>
              <a:rPr lang="en-US" sz="3400" b="1" i="0">
                <a:solidFill>
                  <a:srgbClr val="252F3A"/>
                </a:solidFill>
                <a:latin typeface="Carlito"/>
              </a:rPr>
              <a:t xml:space="preserve">Evidence to gather before committing</a:t>
            </a:r>
            <a:endParaRPr lang="en-US" sz="3400"/>
          </a:p>
        </p:txBody>
      </p:sp>
      <p:graphicFrame>
        <p:nvGraphicFramePr>
          <p:cNvPr id="4" name="Table 4" descr="Synthetic review checkpoints and source responsibilities."/>
          <p:cNvGraphicFramePr/>
          <p:nvPr/>
        </p:nvGraphicFramePr>
        <p:xfrm>
          <a:off x="660400" y="2336800"/>
          <a:ext cx="10871200" cy="3505200"/>
        </p:xfrm>
        <a:graphic>
          <a:graphicData uri="http://schemas.openxmlformats.org/drawingml/2006/table">
            <a:tbl>
              <a:tblPr firstRow="1" bandRow="1"/>
              <a:tblGrid>
                <a:gridCol w="3623733"/>
                <a:gridCol w="3623733"/>
                <a:gridCol w="3623733"/>
              </a:tblGrid>
              <a:tr h="876300">
                <a:tc>
                  <a:txBody>
                    <a:bodyPr wrap="none" lIns="0" tIns="0" rIns="0" bIns="0"/>
                    <a:lstStyle/>
                    <a:p>
                      <a:pPr>
                        <a:lnSpc>
                          <a:spcPts val="2440"/>
                        </a:lnSpc>
                        <a:buNone/>
                      </a:pPr>
                      <a:r>
                        <a:rPr lang="en-US" sz="2000" b="1" i="0">
                          <a:solidFill>
                            <a:srgbClr val="252F3A"/>
                          </a:solidFill>
                          <a:latin typeface="Carlito"/>
                        </a:rPr>
                        <a:t xml:space="preserve">Checkpoint</a:t>
                      </a:r>
                      <a:endParaRPr lang="en-US" sz="2000"/>
                    </a:p>
                  </a:txBody>
                  <a:tcPr marL="101600" marR="101600" marT="76200" marB="76200">
                    <a:solidFill>
                      <a:srgbClr val="E8ECED"/>
                    </a:solidFill>
                  </a:tcPr>
                </a:tc>
                <a:tc>
                  <a:txBody>
                    <a:bodyPr wrap="none" lIns="0" tIns="0" rIns="0" bIns="0"/>
                    <a:lstStyle/>
                    <a:p>
                      <a:pPr>
                        <a:lnSpc>
                          <a:spcPts val="2440"/>
                        </a:lnSpc>
                        <a:buNone/>
                      </a:pPr>
                      <a:r>
                        <a:rPr lang="en-US" sz="2000" b="1" i="0">
                          <a:solidFill>
                            <a:srgbClr val="252F3A"/>
                          </a:solidFill>
                          <a:latin typeface="Carlito"/>
                        </a:rPr>
                        <a:t xml:space="preserve">Owner</a:t>
                      </a:r>
                      <a:endParaRPr lang="en-US" sz="2000"/>
                    </a:p>
                  </a:txBody>
                  <a:tcPr marL="101600" marR="101600" marT="76200" marB="76200">
                    <a:solidFill>
                      <a:srgbClr val="E8ECED"/>
                    </a:solidFill>
                  </a:tcPr>
                </a:tc>
                <a:tc>
                  <a:txBody>
                    <a:bodyPr wrap="none" lIns="0" tIns="0" rIns="0" bIns="0"/>
                    <a:lstStyle/>
                    <a:p>
                      <a:pPr>
                        <a:lnSpc>
                          <a:spcPts val="2440"/>
                        </a:lnSpc>
                        <a:buNone/>
                      </a:pPr>
                      <a:r>
                        <a:rPr lang="en-US" sz="2000" b="1" i="0">
                          <a:solidFill>
                            <a:srgbClr val="252F3A"/>
                          </a:solidFill>
                          <a:latin typeface="Carlito"/>
                        </a:rPr>
                        <a:t xml:space="preserve">Evidence to inspect</a:t>
                      </a:r>
                      <a:endParaRPr lang="en-US" sz="2000"/>
                    </a:p>
                  </a:txBody>
                  <a:tcPr marL="101600" marR="101600" marT="76200" marB="76200">
                    <a:solidFill>
                      <a:srgbClr val="E8ECED"/>
                    </a:solidFill>
                  </a:tcPr>
                </a:tc>
              </a:tr>
              <a:tr h="876300">
                <a:tc>
                  <a:txBody>
                    <a:bodyPr wrap="none" lIns="0" tIns="0" rIns="0" bIns="0"/>
                    <a:lstStyle/>
                    <a:p>
                      <a:pPr>
                        <a:lnSpc>
                          <a:spcPts val="2440"/>
                        </a:lnSpc>
                        <a:buNone/>
                      </a:pPr>
                      <a:r>
                        <a:rPr lang="en-US" sz="2000" b="0" i="0">
                          <a:solidFill>
                            <a:srgbClr val="252F3A"/>
                          </a:solidFill>
                          <a:latin typeface="Carlito"/>
                        </a:rPr>
                        <a:t xml:space="preserve">Baseline</a:t>
                      </a:r>
                      <a:endParaRPr lang="en-US" sz="2000"/>
                    </a:p>
                  </a:txBody>
                  <a:tcPr marL="101600" marR="101600" marT="76200" marB="76200">
                    <a:solidFill>
                      <a:srgbClr val="F8F7F3"/>
                    </a:solidFill>
                  </a:tcPr>
                </a:tc>
                <a:tc>
                  <a:txBody>
                    <a:bodyPr wrap="none" lIns="0" tIns="0" rIns="0" bIns="0"/>
                    <a:lstStyle/>
                    <a:p>
                      <a:pPr>
                        <a:lnSpc>
                          <a:spcPts val="2440"/>
                        </a:lnSpc>
                        <a:buNone/>
                      </a:pPr>
                      <a:r>
                        <a:rPr lang="en-US" sz="2000" b="0" i="0">
                          <a:solidFill>
                            <a:srgbClr val="252F3A"/>
                          </a:solidFill>
                          <a:latin typeface="Carlito"/>
                        </a:rPr>
                        <a:t xml:space="preserve">Research owner</a:t>
                      </a:r>
                      <a:endParaRPr lang="en-US" sz="2000"/>
                    </a:p>
                  </a:txBody>
                  <a:tcPr marL="101600" marR="101600" marT="76200" marB="76200">
                    <a:solidFill>
                      <a:srgbClr val="F8F7F3"/>
                    </a:solidFill>
                  </a:tcPr>
                </a:tc>
                <a:tc>
                  <a:txBody>
                    <a:bodyPr wrap="none" lIns="0" tIns="0" rIns="0" bIns="0"/>
                    <a:lstStyle/>
                    <a:p>
                      <a:pPr>
                        <a:lnSpc>
                          <a:spcPts val="2440"/>
                        </a:lnSpc>
                        <a:buNone/>
                      </a:pPr>
                      <a:r>
                        <a:rPr lang="en-US" sz="2000" b="0" i="0">
                          <a:solidFill>
                            <a:srgbClr val="252F3A"/>
                          </a:solidFill>
                          <a:latin typeface="Carlito"/>
                        </a:rPr>
                        <a:t xml:space="preserve">Current workflow notes</a:t>
                      </a:r>
                      <a:endParaRPr lang="en-US" sz="2000"/>
                    </a:p>
                  </a:txBody>
                  <a:tcPr marL="101600" marR="101600" marT="76200" marB="76200">
                    <a:solidFill>
                      <a:srgbClr val="F8F7F3"/>
                    </a:solidFill>
                  </a:tcPr>
                </a:tc>
              </a:tr>
              <a:tr h="876300">
                <a:tc>
                  <a:txBody>
                    <a:bodyPr wrap="none" lIns="0" tIns="0" rIns="0" bIns="0"/>
                    <a:lstStyle/>
                    <a:p>
                      <a:pPr>
                        <a:lnSpc>
                          <a:spcPts val="2440"/>
                        </a:lnSpc>
                        <a:buNone/>
                      </a:pPr>
                      <a:r>
                        <a:rPr lang="en-US" sz="2000" b="0" i="0">
                          <a:solidFill>
                            <a:srgbClr val="252F3A"/>
                          </a:solidFill>
                          <a:latin typeface="Carlito"/>
                        </a:rPr>
                        <a:t xml:space="preserve">Pilot</a:t>
                      </a:r>
                      <a:endParaRPr lang="en-US" sz="2000"/>
                    </a:p>
                  </a:txBody>
                  <a:tcPr marL="101600" marR="101600" marT="76200" marB="76200">
                    <a:solidFill>
                      <a:srgbClr val="F8F7F3"/>
                    </a:solidFill>
                  </a:tcPr>
                </a:tc>
                <a:tc>
                  <a:txBody>
                    <a:bodyPr wrap="none" lIns="0" tIns="0" rIns="0" bIns="0"/>
                    <a:lstStyle/>
                    <a:p>
                      <a:pPr>
                        <a:lnSpc>
                          <a:spcPts val="2440"/>
                        </a:lnSpc>
                        <a:buNone/>
                      </a:pPr>
                      <a:r>
                        <a:rPr lang="en-US" sz="2000" b="0" i="0">
                          <a:solidFill>
                            <a:srgbClr val="252F3A"/>
                          </a:solidFill>
                          <a:latin typeface="Carlito"/>
                        </a:rPr>
                        <a:t xml:space="preserve">Research owner</a:t>
                      </a:r>
                      <a:endParaRPr lang="en-US" sz="2000"/>
                    </a:p>
                  </a:txBody>
                  <a:tcPr marL="101600" marR="101600" marT="76200" marB="76200">
                    <a:solidFill>
                      <a:srgbClr val="F8F7F3"/>
                    </a:solidFill>
                  </a:tcPr>
                </a:tc>
                <a:tc>
                  <a:txBody>
                    <a:bodyPr wrap="none" lIns="0" tIns="0" rIns="0" bIns="0"/>
                    <a:lstStyle/>
                    <a:p>
                      <a:pPr>
                        <a:lnSpc>
                          <a:spcPts val="2440"/>
                        </a:lnSpc>
                        <a:buNone/>
                      </a:pPr>
                      <a:r>
                        <a:rPr lang="en-US" sz="2000" b="0" i="0">
                          <a:solidFill>
                            <a:srgbClr val="252F3A"/>
                          </a:solidFill>
                          <a:latin typeface="Carlito"/>
                        </a:rPr>
                        <a:t xml:space="preserve">Observed handoff or task</a:t>
                      </a:r>
                      <a:endParaRPr lang="en-US" sz="2000"/>
                    </a:p>
                  </a:txBody>
                  <a:tcPr marL="101600" marR="101600" marT="76200" marB="76200">
                    <a:solidFill>
                      <a:srgbClr val="F8F7F3"/>
                    </a:solidFill>
                  </a:tcPr>
                </a:tc>
              </a:tr>
              <a:tr h="876300">
                <a:tc>
                  <a:txBody>
                    <a:bodyPr wrap="none" lIns="0" tIns="0" rIns="0" bIns="0"/>
                    <a:lstStyle/>
                    <a:p>
                      <a:pPr>
                        <a:lnSpc>
                          <a:spcPts val="2440"/>
                        </a:lnSpc>
                        <a:buNone/>
                      </a:pPr>
                      <a:r>
                        <a:rPr lang="en-US" sz="2000" b="0" i="0">
                          <a:solidFill>
                            <a:srgbClr val="252F3A"/>
                          </a:solidFill>
                          <a:latin typeface="Carlito"/>
                        </a:rPr>
                        <a:t xml:space="preserve">Review</a:t>
                      </a:r>
                      <a:endParaRPr lang="en-US" sz="2000"/>
                    </a:p>
                  </a:txBody>
                  <a:tcPr marL="101600" marR="101600" marT="76200" marB="76200">
                    <a:solidFill>
                      <a:srgbClr val="F8F7F3"/>
                    </a:solidFill>
                  </a:tcPr>
                </a:tc>
                <a:tc>
                  <a:txBody>
                    <a:bodyPr wrap="none" lIns="0" tIns="0" rIns="0" bIns="0"/>
                    <a:lstStyle/>
                    <a:p>
                      <a:pPr>
                        <a:lnSpc>
                          <a:spcPts val="2440"/>
                        </a:lnSpc>
                        <a:buNone/>
                      </a:pPr>
                      <a:r>
                        <a:rPr lang="en-US" sz="2000" b="0" i="0">
                          <a:solidFill>
                            <a:srgbClr val="252F3A"/>
                          </a:solidFill>
                          <a:latin typeface="Carlito"/>
                        </a:rPr>
                        <a:t xml:space="preserve">Decision sponsor</a:t>
                      </a:r>
                      <a:endParaRPr lang="en-US" sz="2000"/>
                    </a:p>
                  </a:txBody>
                  <a:tcPr marL="101600" marR="101600" marT="76200" marB="76200">
                    <a:solidFill>
                      <a:srgbClr val="F8F7F3"/>
                    </a:solidFill>
                  </a:tcPr>
                </a:tc>
                <a:tc>
                  <a:txBody>
                    <a:bodyPr wrap="none" lIns="0" tIns="0" rIns="0" bIns="0"/>
                    <a:lstStyle/>
                    <a:p>
                      <a:pPr>
                        <a:lnSpc>
                          <a:spcPts val="2440"/>
                        </a:lnSpc>
                        <a:buNone/>
                      </a:pPr>
                      <a:r>
                        <a:rPr lang="en-US" sz="2000" b="0" i="0">
                          <a:solidFill>
                            <a:srgbClr val="252F3A"/>
                          </a:solidFill>
                          <a:latin typeface="Carlito"/>
                        </a:rPr>
                        <a:t xml:space="preserve">Bounded continuation decision</a:t>
                      </a:r>
                      <a:endParaRPr lang="en-US" sz="2000"/>
                    </a:p>
                  </a:txBody>
                  <a:tcPr marL="101600" marR="101600" marT="76200" marB="76200">
                    <a:solidFill>
                      <a:srgbClr val="F8F7F3"/>
                    </a:solidFill>
                  </a:tcPr>
                </a:tc>
              </a:tr>
            </a:tbl>
          </a:graphicData>
        </a:graphic>
      </p:graphicFrame>
      <p:sp>
        <p:nvSpPr>
          <p:cNvPr id="5" name="Shape 5"/>
          <p:cNvSpPr/>
          <p:nvPr/>
        </p:nvSpPr>
        <p:spPr>
          <a:xfrm>
            <a:off x="660400" y="6375400"/>
            <a:ext cx="10871200" cy="6350"/>
          </a:xfrm>
          <a:prstGeom prst="line">
            <a:avLst/>
          </a:prstGeom>
          <a:noFill/>
          <a:ln w="6350">
            <a:solidFill>
              <a:srgbClr val="566473"/>
            </a:solidFill>
            <a:prstDash val="solid"/>
          </a:ln>
        </p:spPr>
      </p:sp>
      <p:sp>
        <p:nvSpPr>
          <p:cNvPr id="6" name="Text 6"/>
          <p:cNvSpPr txBox="1"/>
          <p:nvPr/>
        </p:nvSpPr>
        <p:spPr>
          <a:xfrm>
            <a:off x="660400" y="6502400"/>
            <a:ext cx="101092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lnSpc>
                <a:spcPts val="1220"/>
              </a:lnSpc>
              <a:buNone/>
            </a:pPr>
            <a:r>
              <a:rPr lang="en-US" sz="1000" b="0" i="0">
                <a:solidFill>
                  <a:srgbClr val="566473"/>
                </a:solidFill>
                <a:latin typeface="Carlito"/>
              </a:rPr>
              <a:t xml:space="preserve">SYNTHETIC EXAMPLE  ·  STORYBOARD STUDIO</a:t>
            </a:r>
            <a:endParaRPr lang="en-US" sz="1000"/>
          </a:p>
        </p:txBody>
      </p:sp>
      <p:sp>
        <p:nvSpPr>
          <p:cNvPr id="7" name="Text 7"/>
          <p:cNvSpPr txBox="1"/>
          <p:nvPr/>
        </p:nvSpPr>
        <p:spPr>
          <a:xfrm>
            <a:off x="10960100" y="6502400"/>
            <a:ext cx="5715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lnSpc>
                <a:spcPts val="1220"/>
              </a:lnSpc>
              <a:buNone/>
            </a:pPr>
            <a:r>
              <a:rPr lang="en-US" sz="1000" b="0" i="0">
                <a:solidFill>
                  <a:srgbClr val="566473"/>
                </a:solidFill>
                <a:latin typeface="Carlito"/>
              </a:rPr>
              <a:t xml:space="preserve">04</a:t>
            </a:r>
            <a:endParaRPr lang="en-US" sz="10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 name="Two paths make the trade-off explicit">
    <p:bg>
      <p:bgPr>
        <a:solidFill>
          <a:srgbClr val="F8F7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/>
        </p:nvSpPr>
        <p:spPr>
          <a:xfrm>
            <a:off x="660400" y="304800"/>
            <a:ext cx="10871200" cy="279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lnSpc>
                <a:spcPts val="1342"/>
              </a:lnSpc>
              <a:buNone/>
            </a:pPr>
            <a:r>
              <a:rPr lang="en-US" sz="1100" b="0" i="0">
                <a:solidFill>
                  <a:srgbClr val="566473"/>
                </a:solidFill>
                <a:latin typeface="Carlito"/>
              </a:rPr>
              <a:t xml:space="preserve">WHAT THE PILOT CAN AND CANNOT TELL US  /  OPTIONS</a:t>
            </a:r>
            <a:endParaRPr lang="en-US" sz="1100"/>
          </a:p>
        </p:txBody>
      </p:sp>
      <p:sp>
        <p:nvSpPr>
          <p:cNvPr id="3" name="Text 3"/>
          <p:cNvSpPr txBox="1"/>
          <p:nvPr/>
        </p:nvSpPr>
        <p:spPr>
          <a:xfrm>
            <a:off x="660400" y="762000"/>
            <a:ext cx="10871200" cy="1295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lnSpc>
                <a:spcPts val="4148"/>
              </a:lnSpc>
              <a:buNone/>
            </a:pPr>
            <a:r>
              <a:rPr lang="en-US" sz="3400" b="1" i="0">
                <a:solidFill>
                  <a:srgbClr val="252F3A"/>
                </a:solidFill>
                <a:latin typeface="Carlito"/>
              </a:rPr>
              <a:t xml:space="preserve">Two paths make the trade-off explicit</a:t>
            </a:r>
            <a:endParaRPr lang="en-US" sz="3400"/>
          </a:p>
        </p:txBody>
      </p:sp>
      <p:sp>
        <p:nvSpPr>
          <p:cNvPr id="4" name="Shape 4"/>
          <p:cNvSpPr/>
          <p:nvPr/>
        </p:nvSpPr>
        <p:spPr>
          <a:xfrm>
            <a:off x="660400" y="2336800"/>
            <a:ext cx="5321300" cy="3505200"/>
          </a:xfrm>
          <a:prstGeom prst="roundRect">
            <a:avLst/>
          </a:prstGeom>
          <a:solidFill>
            <a:srgbClr val="E8ECED"/>
          </a:solidFill>
          <a:ln>
            <a:noFill/>
          </a:ln>
        </p:spPr>
      </p:sp>
      <p:sp>
        <p:nvSpPr>
          <p:cNvPr id="5" name="Text 5"/>
          <p:cNvSpPr txBox="1"/>
          <p:nvPr/>
        </p:nvSpPr>
        <p:spPr>
          <a:xfrm>
            <a:off x="863600" y="2540000"/>
            <a:ext cx="4914900" cy="812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lnSpc>
                <a:spcPts val="2684"/>
              </a:lnSpc>
              <a:buNone/>
            </a:pPr>
            <a:r>
              <a:rPr lang="en-US" sz="2200" b="1" i="0">
                <a:solidFill>
                  <a:srgbClr val="252F3A"/>
                </a:solidFill>
                <a:latin typeface="Carlito"/>
              </a:rPr>
              <a:t xml:space="preserve">Present every observation as a result</a:t>
            </a:r>
            <a:endParaRPr lang="en-US" sz="2200"/>
          </a:p>
        </p:txBody>
      </p:sp>
      <p:sp>
        <p:nvSpPr>
          <p:cNvPr id="6" name="Text 6"/>
          <p:cNvSpPr txBox="1"/>
          <p:nvPr/>
        </p:nvSpPr>
        <p:spPr>
          <a:xfrm>
            <a:off x="863600" y="3454400"/>
            <a:ext cx="4914900" cy="2184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lnSpc>
                <a:spcPts val="2440"/>
              </a:lnSpc>
              <a:buNone/>
            </a:pPr>
            <a:r>
              <a:rPr lang="en-US" sz="2000" b="0" i="0">
                <a:solidFill>
                  <a:srgbClr val="252F3A"/>
                </a:solidFill>
                <a:latin typeface="Carlito"/>
              </a:rPr>
              <a:t xml:space="preserve">Faster to start, with the current operating </a:t>
            </a:r>
            <a:endParaRPr lang="en-US" sz="2000"/>
          </a:p>
          <a:p>
            <a:pPr>
              <a:lnSpc>
                <a:spcPts val="2440"/>
              </a:lnSpc>
              <a:buNone/>
            </a:pPr>
            <a:r>
              <a:rPr lang="en-US" sz="2000" b="0" i="0">
                <a:solidFill>
                  <a:srgbClr val="252F3A"/>
                </a:solidFill>
                <a:latin typeface="Carlito"/>
              </a:rPr>
              <a:t xml:space="preserve">limitations.</a:t>
            </a:r>
            <a:endParaRPr lang="en-US" sz="2000"/>
          </a:p>
        </p:txBody>
      </p:sp>
      <p:sp>
        <p:nvSpPr>
          <p:cNvPr id="7" name="Shape 7"/>
          <p:cNvSpPr/>
          <p:nvPr/>
        </p:nvSpPr>
        <p:spPr>
          <a:xfrm>
            <a:off x="6210300" y="2336800"/>
            <a:ext cx="5321300" cy="3505200"/>
          </a:xfrm>
          <a:prstGeom prst="roundRect">
            <a:avLst/>
          </a:prstGeom>
          <a:solidFill>
            <a:srgbClr val="E8ECED"/>
          </a:solidFill>
          <a:ln>
            <a:noFill/>
          </a:ln>
        </p:spPr>
      </p:sp>
      <p:sp>
        <p:nvSpPr>
          <p:cNvPr id="8" name="Text 8"/>
          <p:cNvSpPr txBox="1"/>
          <p:nvPr/>
        </p:nvSpPr>
        <p:spPr>
          <a:xfrm>
            <a:off x="6413500" y="2540000"/>
            <a:ext cx="4914900" cy="812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lnSpc>
                <a:spcPts val="2684"/>
              </a:lnSpc>
              <a:buNone/>
            </a:pPr>
            <a:r>
              <a:rPr lang="en-US" sz="2200" b="1" i="0">
                <a:solidFill>
                  <a:srgbClr val="252F3A"/>
                </a:solidFill>
                <a:latin typeface="Carlito"/>
              </a:rPr>
              <a:t xml:space="preserve">Separate observations and hypotheses</a:t>
            </a:r>
            <a:endParaRPr lang="en-US" sz="2200"/>
          </a:p>
        </p:txBody>
      </p:sp>
      <p:sp>
        <p:nvSpPr>
          <p:cNvPr id="9" name="Text 9"/>
          <p:cNvSpPr txBox="1"/>
          <p:nvPr/>
        </p:nvSpPr>
        <p:spPr>
          <a:xfrm>
            <a:off x="6413500" y="3454400"/>
            <a:ext cx="4914900" cy="2184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lnSpc>
                <a:spcPts val="2440"/>
              </a:lnSpc>
              <a:buNone/>
            </a:pPr>
            <a:r>
              <a:rPr lang="en-US" sz="2000" b="0" i="0">
                <a:solidFill>
                  <a:srgbClr val="252F3A"/>
                </a:solidFill>
                <a:latin typeface="Carlito"/>
              </a:rPr>
              <a:t xml:space="preserve">More focused initial work, with a clearer </a:t>
            </a:r>
            <a:endParaRPr lang="en-US" sz="2000"/>
          </a:p>
          <a:p>
            <a:pPr>
              <a:lnSpc>
                <a:spcPts val="2440"/>
              </a:lnSpc>
              <a:buNone/>
            </a:pPr>
            <a:r>
              <a:rPr lang="en-US" sz="2000" b="0" i="0">
                <a:solidFill>
                  <a:srgbClr val="252F3A"/>
                </a:solidFill>
                <a:latin typeface="Carlito"/>
              </a:rPr>
              <a:t xml:space="preserve">review boundary.</a:t>
            </a:r>
            <a:endParaRPr lang="en-US" sz="2000"/>
          </a:p>
        </p:txBody>
      </p:sp>
      <p:sp>
        <p:nvSpPr>
          <p:cNvPr id="10" name="Shape 10"/>
          <p:cNvSpPr/>
          <p:nvPr/>
        </p:nvSpPr>
        <p:spPr>
          <a:xfrm>
            <a:off x="660400" y="6375400"/>
            <a:ext cx="10871200" cy="6350"/>
          </a:xfrm>
          <a:prstGeom prst="line">
            <a:avLst/>
          </a:prstGeom>
          <a:noFill/>
          <a:ln w="6350">
            <a:solidFill>
              <a:srgbClr val="566473"/>
            </a:solidFill>
            <a:prstDash val="solid"/>
          </a:ln>
        </p:spPr>
      </p:sp>
      <p:sp>
        <p:nvSpPr>
          <p:cNvPr id="11" name="Text 11"/>
          <p:cNvSpPr txBox="1"/>
          <p:nvPr/>
        </p:nvSpPr>
        <p:spPr>
          <a:xfrm>
            <a:off x="660400" y="6502400"/>
            <a:ext cx="101092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lnSpc>
                <a:spcPts val="1220"/>
              </a:lnSpc>
              <a:buNone/>
            </a:pPr>
            <a:r>
              <a:rPr lang="en-US" sz="1000" b="0" i="0">
                <a:solidFill>
                  <a:srgbClr val="566473"/>
                </a:solidFill>
                <a:latin typeface="Carlito"/>
              </a:rPr>
              <a:t xml:space="preserve">SYNTHETIC EXAMPLE  ·  STORYBOARD STUDIO</a:t>
            </a:r>
            <a:endParaRPr lang="en-US" sz="1000"/>
          </a:p>
        </p:txBody>
      </p:sp>
      <p:sp>
        <p:nvSpPr>
          <p:cNvPr id="12" name="Text 12"/>
          <p:cNvSpPr txBox="1"/>
          <p:nvPr/>
        </p:nvSpPr>
        <p:spPr>
          <a:xfrm>
            <a:off x="10960100" y="6502400"/>
            <a:ext cx="5715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lnSpc>
                <a:spcPts val="1220"/>
              </a:lnSpc>
              <a:buNone/>
            </a:pPr>
            <a:r>
              <a:rPr lang="en-US" sz="1000" b="0" i="0">
                <a:solidFill>
                  <a:srgbClr val="566473"/>
                </a:solidFill>
                <a:latin typeface="Carlito"/>
              </a:rPr>
              <a:t xml:space="preserve">05</a:t>
            </a:r>
            <a:endParaRPr lang="en-US" sz="10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 name="Recommend the bounded path">
    <p:bg>
      <p:bgPr>
        <a:solidFill>
          <a:srgbClr val="F8F7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/>
        </p:nvSpPr>
        <p:spPr>
          <a:xfrm>
            <a:off x="660400" y="304800"/>
            <a:ext cx="10871200" cy="279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lnSpc>
                <a:spcPts val="1342"/>
              </a:lnSpc>
              <a:buNone/>
            </a:pPr>
            <a:r>
              <a:rPr lang="en-US" sz="1100" b="0" i="0">
                <a:solidFill>
                  <a:srgbClr val="566473"/>
                </a:solidFill>
                <a:latin typeface="Carlito"/>
              </a:rPr>
              <a:t xml:space="preserve">WHAT THE PILOT CAN AND CANNOT TELL US  /  RECOMMENDATION</a:t>
            </a:r>
            <a:endParaRPr lang="en-US" sz="1100"/>
          </a:p>
        </p:txBody>
      </p:sp>
      <p:sp>
        <p:nvSpPr>
          <p:cNvPr id="3" name="Text 3"/>
          <p:cNvSpPr txBox="1"/>
          <p:nvPr/>
        </p:nvSpPr>
        <p:spPr>
          <a:xfrm>
            <a:off x="660400" y="762000"/>
            <a:ext cx="10871200" cy="1295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lnSpc>
                <a:spcPts val="4148"/>
              </a:lnSpc>
              <a:buNone/>
            </a:pPr>
            <a:r>
              <a:rPr lang="en-US" sz="3400" b="1" i="0">
                <a:solidFill>
                  <a:srgbClr val="252F3A"/>
                </a:solidFill>
                <a:latin typeface="Carlito"/>
              </a:rPr>
              <a:t xml:space="preserve">Recommend the bounded path</a:t>
            </a:r>
            <a:endParaRPr lang="en-US" sz="3400"/>
          </a:p>
        </p:txBody>
      </p:sp>
      <p:sp>
        <p:nvSpPr>
          <p:cNvPr id="4" name="Text 4"/>
          <p:cNvSpPr txBox="1"/>
          <p:nvPr/>
        </p:nvSpPr>
        <p:spPr>
          <a:xfrm>
            <a:off x="660400" y="2336800"/>
            <a:ext cx="10871200" cy="3505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lnSpc>
                <a:spcPts val="2440"/>
              </a:lnSpc>
              <a:buNone/>
            </a:pPr>
            <a:r>
              <a:rPr lang="en-US" sz="2000" b="0" i="0">
                <a:solidFill>
                  <a:srgbClr val="252F3A"/>
                </a:solidFill>
                <a:latin typeface="Carlito"/>
              </a:rPr>
              <a:t xml:space="preserve">Publish bounded findings with source excerpts and unresolved questions.</a:t>
            </a:r>
            <a:endParaRPr lang="en-US" sz="2000"/>
          </a:p>
        </p:txBody>
      </p:sp>
      <p:sp>
        <p:nvSpPr>
          <p:cNvPr id="5" name="Shape 5"/>
          <p:cNvSpPr/>
          <p:nvPr/>
        </p:nvSpPr>
        <p:spPr>
          <a:xfrm>
            <a:off x="660400" y="6375400"/>
            <a:ext cx="10871200" cy="6350"/>
          </a:xfrm>
          <a:prstGeom prst="line">
            <a:avLst/>
          </a:prstGeom>
          <a:noFill/>
          <a:ln w="6350">
            <a:solidFill>
              <a:srgbClr val="566473"/>
            </a:solidFill>
            <a:prstDash val="solid"/>
          </a:ln>
        </p:spPr>
      </p:sp>
      <p:sp>
        <p:nvSpPr>
          <p:cNvPr id="6" name="Text 6"/>
          <p:cNvSpPr txBox="1"/>
          <p:nvPr/>
        </p:nvSpPr>
        <p:spPr>
          <a:xfrm>
            <a:off x="660400" y="6502400"/>
            <a:ext cx="101092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lnSpc>
                <a:spcPts val="1220"/>
              </a:lnSpc>
              <a:buNone/>
            </a:pPr>
            <a:r>
              <a:rPr lang="en-US" sz="1000" b="0" i="0">
                <a:solidFill>
                  <a:srgbClr val="566473"/>
                </a:solidFill>
                <a:latin typeface="Carlito"/>
              </a:rPr>
              <a:t xml:space="preserve">SYNTHETIC EXAMPLE  ·  STORYBOARD STUDIO</a:t>
            </a:r>
            <a:endParaRPr lang="en-US" sz="1000"/>
          </a:p>
        </p:txBody>
      </p:sp>
      <p:sp>
        <p:nvSpPr>
          <p:cNvPr id="7" name="Text 7"/>
          <p:cNvSpPr txBox="1"/>
          <p:nvPr/>
        </p:nvSpPr>
        <p:spPr>
          <a:xfrm>
            <a:off x="10960100" y="6502400"/>
            <a:ext cx="5715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lnSpc>
                <a:spcPts val="1220"/>
              </a:lnSpc>
              <a:buNone/>
            </a:pPr>
            <a:r>
              <a:rPr lang="en-US" sz="1000" b="0" i="0">
                <a:solidFill>
                  <a:srgbClr val="566473"/>
                </a:solidFill>
                <a:latin typeface="Carlito"/>
              </a:rPr>
              <a:t xml:space="preserve">06</a:t>
            </a:r>
            <a:endParaRPr lang="en-US" sz="10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 name="Risks to review before expansion">
    <p:bg>
      <p:bgPr>
        <a:solidFill>
          <a:srgbClr val="F8F7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/>
        </p:nvSpPr>
        <p:spPr>
          <a:xfrm>
            <a:off x="660400" y="304800"/>
            <a:ext cx="10871200" cy="279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lnSpc>
                <a:spcPts val="1342"/>
              </a:lnSpc>
              <a:buNone/>
            </a:pPr>
            <a:r>
              <a:rPr lang="en-US" sz="1100" b="0" i="0">
                <a:solidFill>
                  <a:srgbClr val="566473"/>
                </a:solidFill>
                <a:latin typeface="Carlito"/>
              </a:rPr>
              <a:t xml:space="preserve">WHAT THE PILOT CAN AND CANNOT TELL US  /  IMPLICATIONS</a:t>
            </a:r>
            <a:endParaRPr lang="en-US" sz="1100"/>
          </a:p>
        </p:txBody>
      </p:sp>
      <p:sp>
        <p:nvSpPr>
          <p:cNvPr id="3" name="Text 3"/>
          <p:cNvSpPr txBox="1"/>
          <p:nvPr/>
        </p:nvSpPr>
        <p:spPr>
          <a:xfrm>
            <a:off x="660400" y="762000"/>
            <a:ext cx="10871200" cy="1295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lnSpc>
                <a:spcPts val="4148"/>
              </a:lnSpc>
              <a:buNone/>
            </a:pPr>
            <a:r>
              <a:rPr lang="en-US" sz="3400" b="1" i="0">
                <a:solidFill>
                  <a:srgbClr val="252F3A"/>
                </a:solidFill>
                <a:latin typeface="Carlito"/>
              </a:rPr>
              <a:t xml:space="preserve">Risks to review before expansion</a:t>
            </a:r>
            <a:endParaRPr lang="en-US" sz="3400"/>
          </a:p>
        </p:txBody>
      </p:sp>
      <p:sp>
        <p:nvSpPr>
          <p:cNvPr id="4" name="Text 4"/>
          <p:cNvSpPr txBox="1"/>
          <p:nvPr/>
        </p:nvSpPr>
        <p:spPr>
          <a:xfrm>
            <a:off x="660400" y="2336800"/>
            <a:ext cx="10871200" cy="3505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lnSpc>
                <a:spcPts val="2440"/>
              </a:lnSpc>
              <a:buNone/>
            </a:pPr>
            <a:r>
              <a:rPr lang="en-US" sz="2000" b="0" i="0">
                <a:solidFill>
                  <a:srgbClr val="252F3A"/>
                </a:solidFill>
                <a:latin typeface="Carlito"/>
              </a:rPr>
              <a:t xml:space="preserve">Keep the scope narrow. Check whether the new workflow adds manual effort or moves risk elsewhere. </a:t>
            </a:r>
            <a:endParaRPr lang="en-US" sz="2000"/>
          </a:p>
          <a:p>
            <a:pPr>
              <a:lnSpc>
                <a:spcPts val="2440"/>
              </a:lnSpc>
              <a:buNone/>
            </a:pPr>
            <a:r>
              <a:rPr lang="en-US" sz="2000" b="0" i="0">
                <a:solidFill>
                  <a:srgbClr val="252F3A"/>
                </a:solidFill>
                <a:latin typeface="Carlito"/>
              </a:rPr>
              <a:t xml:space="preserve">Record the unresolved question instead of treating an assumption as a finding.</a:t>
            </a:r>
            <a:endParaRPr lang="en-US" sz="2000"/>
          </a:p>
        </p:txBody>
      </p:sp>
      <p:sp>
        <p:nvSpPr>
          <p:cNvPr id="5" name="Shape 5"/>
          <p:cNvSpPr/>
          <p:nvPr/>
        </p:nvSpPr>
        <p:spPr>
          <a:xfrm>
            <a:off x="660400" y="6375400"/>
            <a:ext cx="10871200" cy="6350"/>
          </a:xfrm>
          <a:prstGeom prst="line">
            <a:avLst/>
          </a:prstGeom>
          <a:noFill/>
          <a:ln w="6350">
            <a:solidFill>
              <a:srgbClr val="566473"/>
            </a:solidFill>
            <a:prstDash val="solid"/>
          </a:ln>
        </p:spPr>
      </p:sp>
      <p:sp>
        <p:nvSpPr>
          <p:cNvPr id="6" name="Text 6"/>
          <p:cNvSpPr txBox="1"/>
          <p:nvPr/>
        </p:nvSpPr>
        <p:spPr>
          <a:xfrm>
            <a:off x="660400" y="6502400"/>
            <a:ext cx="101092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lnSpc>
                <a:spcPts val="1220"/>
              </a:lnSpc>
              <a:buNone/>
            </a:pPr>
            <a:r>
              <a:rPr lang="en-US" sz="1000" b="0" i="0">
                <a:solidFill>
                  <a:srgbClr val="566473"/>
                </a:solidFill>
                <a:latin typeface="Carlito"/>
              </a:rPr>
              <a:t xml:space="preserve">SYNTHETIC EXAMPLE  ·  STORYBOARD STUDIO</a:t>
            </a:r>
            <a:endParaRPr lang="en-US" sz="1000"/>
          </a:p>
        </p:txBody>
      </p:sp>
      <p:sp>
        <p:nvSpPr>
          <p:cNvPr id="7" name="Text 7"/>
          <p:cNvSpPr txBox="1"/>
          <p:nvPr/>
        </p:nvSpPr>
        <p:spPr>
          <a:xfrm>
            <a:off x="10960100" y="6502400"/>
            <a:ext cx="5715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lnSpc>
                <a:spcPts val="1220"/>
              </a:lnSpc>
              <a:buNone/>
            </a:pPr>
            <a:r>
              <a:rPr lang="en-US" sz="1000" b="0" i="0">
                <a:solidFill>
                  <a:srgbClr val="566473"/>
                </a:solidFill>
                <a:latin typeface="Carlito"/>
              </a:rPr>
              <a:t xml:space="preserve">07</a:t>
            </a:r>
            <a:endParaRPr lang="en-US" sz="10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 name="Next action: approve the pilot and own the review">
    <p:bg>
      <p:bgPr>
        <a:solidFill>
          <a:srgbClr val="F8F7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/>
        </p:nvSpPr>
        <p:spPr>
          <a:xfrm>
            <a:off x="660400" y="304800"/>
            <a:ext cx="10871200" cy="279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lnSpc>
                <a:spcPts val="1342"/>
              </a:lnSpc>
              <a:buNone/>
            </a:pPr>
            <a:r>
              <a:rPr lang="en-US" sz="1100" b="0" i="0">
                <a:solidFill>
                  <a:srgbClr val="566473"/>
                </a:solidFill>
                <a:latin typeface="Carlito"/>
              </a:rPr>
              <a:t xml:space="preserve">WHAT THE PILOT CAN AND CANNOT TELL US  /  ACTION</a:t>
            </a:r>
            <a:endParaRPr lang="en-US" sz="1100"/>
          </a:p>
        </p:txBody>
      </p:sp>
      <p:sp>
        <p:nvSpPr>
          <p:cNvPr id="3" name="Text 3"/>
          <p:cNvSpPr txBox="1"/>
          <p:nvPr/>
        </p:nvSpPr>
        <p:spPr>
          <a:xfrm>
            <a:off x="660400" y="762000"/>
            <a:ext cx="10871200" cy="1295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lnSpc>
                <a:spcPts val="4148"/>
              </a:lnSpc>
              <a:buNone/>
            </a:pPr>
            <a:r>
              <a:rPr lang="en-US" sz="3400" b="1" i="0">
                <a:solidFill>
                  <a:srgbClr val="252F3A"/>
                </a:solidFill>
                <a:latin typeface="Carlito"/>
              </a:rPr>
              <a:t xml:space="preserve">Next action: approve the pilot and own the review</a:t>
            </a:r>
            <a:endParaRPr lang="en-US" sz="3400"/>
          </a:p>
        </p:txBody>
      </p:sp>
      <p:sp>
        <p:nvSpPr>
          <p:cNvPr id="4" name="Shape 4"/>
          <p:cNvSpPr/>
          <p:nvPr/>
        </p:nvSpPr>
        <p:spPr>
          <a:xfrm>
            <a:off x="660400" y="2336800"/>
            <a:ext cx="5321300" cy="3505200"/>
          </a:xfrm>
          <a:prstGeom prst="roundRect">
            <a:avLst/>
          </a:prstGeom>
          <a:solidFill>
            <a:srgbClr val="E8ECED"/>
          </a:solidFill>
          <a:ln>
            <a:noFill/>
          </a:ln>
        </p:spPr>
      </p:sp>
      <p:sp>
        <p:nvSpPr>
          <p:cNvPr id="5" name="Text 5"/>
          <p:cNvSpPr txBox="1"/>
          <p:nvPr/>
        </p:nvSpPr>
        <p:spPr>
          <a:xfrm>
            <a:off x="863600" y="2540000"/>
            <a:ext cx="4914900" cy="812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lnSpc>
                <a:spcPts val="2684"/>
              </a:lnSpc>
              <a:buNone/>
            </a:pPr>
            <a:r>
              <a:rPr lang="en-US" sz="2200" b="1" i="0">
                <a:solidFill>
                  <a:srgbClr val="252F3A"/>
                </a:solidFill>
                <a:latin typeface="Carlito"/>
              </a:rPr>
              <a:t xml:space="preserve">Owner</a:t>
            </a:r>
            <a:endParaRPr lang="en-US" sz="2200"/>
          </a:p>
        </p:txBody>
      </p:sp>
      <p:sp>
        <p:nvSpPr>
          <p:cNvPr id="6" name="Text 6"/>
          <p:cNvSpPr txBox="1"/>
          <p:nvPr/>
        </p:nvSpPr>
        <p:spPr>
          <a:xfrm>
            <a:off x="863600" y="3454400"/>
            <a:ext cx="4914900" cy="2184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lnSpc>
                <a:spcPts val="2440"/>
              </a:lnSpc>
              <a:buNone/>
            </a:pPr>
            <a:r>
              <a:rPr lang="en-US" sz="2000" b="0" i="0">
                <a:solidFill>
                  <a:srgbClr val="252F3A"/>
                </a:solidFill>
                <a:latin typeface="Carlito"/>
              </a:rPr>
              <a:t xml:space="preserve">Research owner owns the first milestone and </a:t>
            </a:r>
            <a:endParaRPr lang="en-US" sz="2000"/>
          </a:p>
          <a:p>
            <a:pPr>
              <a:lnSpc>
                <a:spcPts val="2440"/>
              </a:lnSpc>
              <a:buNone/>
            </a:pPr>
            <a:r>
              <a:rPr lang="en-US" sz="2000" b="0" i="0">
                <a:solidFill>
                  <a:srgbClr val="252F3A"/>
                </a:solidFill>
                <a:latin typeface="Carlito"/>
              </a:rPr>
              <a:t xml:space="preserve">its evidence.</a:t>
            </a:r>
            <a:endParaRPr lang="en-US" sz="2000"/>
          </a:p>
        </p:txBody>
      </p:sp>
      <p:sp>
        <p:nvSpPr>
          <p:cNvPr id="7" name="Shape 7"/>
          <p:cNvSpPr/>
          <p:nvPr/>
        </p:nvSpPr>
        <p:spPr>
          <a:xfrm>
            <a:off x="6210300" y="2336800"/>
            <a:ext cx="5321300" cy="3505200"/>
          </a:xfrm>
          <a:prstGeom prst="roundRect">
            <a:avLst/>
          </a:prstGeom>
          <a:solidFill>
            <a:srgbClr val="E8ECED"/>
          </a:solidFill>
          <a:ln>
            <a:noFill/>
          </a:ln>
        </p:spPr>
      </p:sp>
      <p:sp>
        <p:nvSpPr>
          <p:cNvPr id="8" name="Text 8"/>
          <p:cNvSpPr txBox="1"/>
          <p:nvPr/>
        </p:nvSpPr>
        <p:spPr>
          <a:xfrm>
            <a:off x="6413500" y="2540000"/>
            <a:ext cx="4914900" cy="812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lnSpc>
                <a:spcPts val="2684"/>
              </a:lnSpc>
              <a:buNone/>
            </a:pPr>
            <a:r>
              <a:rPr lang="en-US" sz="2200" b="1" i="0">
                <a:solidFill>
                  <a:srgbClr val="252F3A"/>
                </a:solidFill>
                <a:latin typeface="Carlito"/>
              </a:rPr>
              <a:t xml:space="preserve">Review</a:t>
            </a:r>
            <a:endParaRPr lang="en-US" sz="2200"/>
          </a:p>
        </p:txBody>
      </p:sp>
      <p:sp>
        <p:nvSpPr>
          <p:cNvPr id="9" name="Text 9"/>
          <p:cNvSpPr txBox="1"/>
          <p:nvPr/>
        </p:nvSpPr>
        <p:spPr>
          <a:xfrm>
            <a:off x="6413500" y="3454400"/>
            <a:ext cx="4914900" cy="2184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lnSpc>
                <a:spcPts val="2440"/>
              </a:lnSpc>
              <a:buNone/>
            </a:pPr>
            <a:r>
              <a:rPr lang="en-US" sz="2000" b="0" i="0">
                <a:solidFill>
                  <a:srgbClr val="252F3A"/>
                </a:solidFill>
                <a:latin typeface="Carlito"/>
              </a:rPr>
              <a:t xml:space="preserve">Inspect the pilot evidence before approving </a:t>
            </a:r>
            <a:endParaRPr lang="en-US" sz="2000"/>
          </a:p>
          <a:p>
            <a:pPr>
              <a:lnSpc>
                <a:spcPts val="2440"/>
              </a:lnSpc>
              <a:buNone/>
            </a:pPr>
            <a:r>
              <a:rPr lang="en-US" sz="2000" b="0" i="0">
                <a:solidFill>
                  <a:srgbClr val="252F3A"/>
                </a:solidFill>
                <a:latin typeface="Carlito"/>
              </a:rPr>
              <a:t xml:space="preserve">the next stage.</a:t>
            </a:r>
            <a:endParaRPr lang="en-US" sz="2000"/>
          </a:p>
        </p:txBody>
      </p:sp>
      <p:sp>
        <p:nvSpPr>
          <p:cNvPr id="10" name="Shape 10"/>
          <p:cNvSpPr/>
          <p:nvPr/>
        </p:nvSpPr>
        <p:spPr>
          <a:xfrm>
            <a:off x="660400" y="6375400"/>
            <a:ext cx="10871200" cy="6350"/>
          </a:xfrm>
          <a:prstGeom prst="line">
            <a:avLst/>
          </a:prstGeom>
          <a:noFill/>
          <a:ln w="6350">
            <a:solidFill>
              <a:srgbClr val="566473"/>
            </a:solidFill>
            <a:prstDash val="solid"/>
          </a:ln>
        </p:spPr>
      </p:sp>
      <p:sp>
        <p:nvSpPr>
          <p:cNvPr id="11" name="Text 11"/>
          <p:cNvSpPr txBox="1"/>
          <p:nvPr/>
        </p:nvSpPr>
        <p:spPr>
          <a:xfrm>
            <a:off x="660400" y="6502400"/>
            <a:ext cx="101092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lnSpc>
                <a:spcPts val="1220"/>
              </a:lnSpc>
              <a:buNone/>
            </a:pPr>
            <a:r>
              <a:rPr lang="en-US" sz="1000" b="0" i="0">
                <a:solidFill>
                  <a:srgbClr val="566473"/>
                </a:solidFill>
                <a:latin typeface="Carlito"/>
              </a:rPr>
              <a:t xml:space="preserve">SYNTHETIC EXAMPLE  ·  STORYBOARD STUDIO</a:t>
            </a:r>
            <a:endParaRPr lang="en-US" sz="1000"/>
          </a:p>
        </p:txBody>
      </p:sp>
      <p:sp>
        <p:nvSpPr>
          <p:cNvPr id="12" name="Text 12"/>
          <p:cNvSpPr txBox="1"/>
          <p:nvPr/>
        </p:nvSpPr>
        <p:spPr>
          <a:xfrm>
            <a:off x="10960100" y="6502400"/>
            <a:ext cx="5715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lnSpc>
                <a:spcPts val="1220"/>
              </a:lnSpc>
              <a:buNone/>
            </a:pPr>
            <a:r>
              <a:rPr lang="en-US" sz="1000" b="0" i="0">
                <a:solidFill>
                  <a:srgbClr val="566473"/>
                </a:solidFill>
                <a:latin typeface="Carlito"/>
              </a:rPr>
              <a:t xml:space="preserve">08</a:t>
            </a:r>
            <a:endParaRPr lang="en-US" sz="10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research">
  <a:themeElements>
    <a:clrScheme name="Storyboard">
      <a:dk1>
        <a:srgbClr val="252F3A"/>
      </a:dk1>
      <a:lt1>
        <a:srgbClr val="F8F7F3"/>
      </a:lt1>
      <a:dk2>
        <a:srgbClr val="566473"/>
      </a:dk2>
      <a:lt2>
        <a:srgbClr val="E8ECED"/>
      </a:lt2>
      <a:accent1>
        <a:srgbClr val="416A92"/>
      </a:accent1>
      <a:accent2>
        <a:srgbClr val="566473"/>
      </a:accent2>
      <a:accent3>
        <a:srgbClr val="416A92"/>
      </a:accent3>
      <a:accent4>
        <a:srgbClr val="252F3A"/>
      </a:accent4>
      <a:accent5>
        <a:srgbClr val="566473"/>
      </a:accent5>
      <a:accent6>
        <a:srgbClr val="416A92"/>
      </a:accent6>
      <a:hlink>
        <a:srgbClr val="416A92"/>
      </a:hlink>
      <a:folHlink>
        <a:srgbClr val="566473"/>
      </a:folHlink>
    </a:clrScheme>
    <a:fontScheme name="Storyboard">
      <a:majorFont>
        <a:latin typeface="Carlito"/>
        <a:ea typeface=""/>
        <a:cs typeface=""/>
      </a:majorFont>
      <a:minorFont>
        <a:latin typeface="Carlito"/>
        <a:ea typeface=""/>
        <a:cs typeface=""/>
      </a:minorFont>
    </a:fontScheme>
    <a:fmtScheme name="Storyboard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1270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>
  <Application>Storyboard Studio Rust</Application>
  <PresentationFormat>Widescreen</PresentationFormat>
  <Slides>8</Slides>
  <Notes>8</Notes>
  <AppVersion>03.0000</AppVersion>
</Properties>
</file>

<file path=docProps/core.xml><?xml version="1.0" encoding="utf-8"?>
<cp:coreProperties xmlns:cp="http://schemas.openxmlformats.org/package/2006/metadata/core-properties" xmlns:dc="http://purl.org/dc/elements/1.1/">
  <dc:title>What the pilot can and cannot tell us</dc:title>
  <dc:creator/>
  <dc:description/>
  <cp:keywords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StorySHA256">
    <vt:lpwstr>634bb96d4d91248e339be950945795e4466bec8c9d79dd3575d917a3d155ba61</vt:lpwstr>
  </property>
</Properties>
</file>