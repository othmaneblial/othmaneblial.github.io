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chart>
    <c:title>
      <c:tx>
        <c:rich>
          <a:bodyPr/>
          <a:lstStyle/>
          <a:p>
            <a:pPr>
              <a:lnSpc>
                <a:spcPts val="2196"/>
              </a:lnSpc>
              <a:buNone/>
            </a:pPr>
            <a:r>
              <a:rPr lang="en-US" sz="1800" b="0" i="0">
                <a:solidFill>
                  <a:srgbClr val="252F3A"/>
                </a:solidFill>
                <a:latin typeface="Carlito"/>
              </a:rPr>
              <a:t xml:space="preserve">Illustrative pilot checkpoints</a:t>
            </a:r>
            <a:endParaRPr lang="en-US" sz="1800"/>
          </a:p>
        </c:rich>
      </c:tx>
    </c:title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score</c:v>
                </c:pt>
              </c:strCache>
            </c:strRef>
          </c:tx>
          <c:spPr>
            <a:solidFill>
              <a:srgbClr val="416A92"/>
            </a:solidFill>
          </c:spPr>
          <c:cat>
            <c:strRef>
              <c:f>Sheet1!$A$2:$A$4</c:f>
              <c:strCache>
                <c:ptCount val="3"/>
                <c:pt idx="0">
                  <c:v>Baseline</c:v>
                </c:pt>
                <c:pt idx="1">
                  <c:v>Pilot</c:v>
                </c:pt>
                <c:pt idx="2">
                  <c:v>Review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21</c:v>
                </c:pt>
                <c:pt idx="2">
                  <c:v>24</c:v>
                </c:pt>
              </c:numCache>
            </c:numRef>
          </c:val>
        </c:ser>
        <c:axId val="1"/>
        <c:axId val="2"/>
      </c:barChart>
      <c:catAx>
        <c:axId val="1"/>
        <c:scaling>
          <c:orientation val="minMax"/>
        </c:scaling>
        <c:axPos val="b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c:txPr>
        <c:crossAx val="2"/>
        <c:crosses val="autoZero"/>
      </c:catAx>
      <c:valAx>
        <c:axId val="2"/>
        <c:scaling>
          <c:orientation val="minMax"/>
        </c:scaling>
        <c:axPos val="l"/>
        <c:numFmt formatCode="General" sourceLinked="0"/>
        <c:txPr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c:txPr>
        <c:crossAx val="1"/>
        <c:crosses val="autoZero"/>
        <c:crossBetween val="between"/>
      </c:valAx>
    </c:plotArea>
    <c:legend>
      <c:legendPos val="b"/>
    </c:legend>
    <c:plotVisOnly val="1"/>
  </c:chart>
  <c:spPr>
    <a:solidFill>
      <a:srgbClr val="F8F7F3"/>
    </a:solidFill>
  </c:spPr>
  <c:externalData r:id="rId1">
    <c:autoUpdate val="0"/>
  </c:externalData>
</c:chartSpac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252F3A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market selection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The context for market selection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This fictional team needs a decision it can explain, execute, and revisit. Broad market estimates do not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reveal an accessible first customer.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The problem is the missing decision boundary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Broad market estimates do not reveal an accessible first customer.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Evidence to gather before committing</a:t>
            </a:r>
            <a:endParaRPr lang="en-US" sz="3400"/>
          </a:p>
        </p:txBody>
      </p:sp>
      <p:graphicFrame>
        <p:nvGraphicFramePr>
          <p:cNvPr id="4" name="Chart 4"/>
          <p:cNvGraphicFramePr/>
          <p:nvPr/>
        </p:nvGraphicFramePr>
        <p:xfrm>
          <a:off x="660400" y="2336800"/>
          <a:ext cx="10871200" cy="3505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Two paths make the trade-off explicit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Target every segment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Faster to start, with the current operating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limitations.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Start with one observable workflow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More focused initial work, with a clearer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review boundary.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Recommend the bounded path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Test one segment where the buyer and workflow owner are the same person.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Risks to review before expansion</a:t>
            </a:r>
            <a:endParaRPr lang="en-US" sz="3400"/>
          </a:p>
        </p:txBody>
      </p:sp>
      <p:sp>
        <p:nvSpPr>
          <p:cNvPr id="4" name="Text 4"/>
          <p:cNvSpPr txBox="1"/>
          <p:nvPr/>
        </p:nvSpPr>
        <p:spPr>
          <a:xfrm>
            <a:off x="660400" y="2336800"/>
            <a:ext cx="10871200" cy="350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Keep the scope narrow. Check whether the new workflow adds manual effort or moves risk elsewhere.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Record the unresolved question instead of treating an assumption as a finding.</a:t>
            </a:r>
            <a:endParaRPr lang="en-US" sz="2000"/>
          </a:p>
        </p:txBody>
      </p:sp>
      <p:sp>
        <p:nvSpPr>
          <p:cNvPr id="5" name="Shape 5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8F7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60400" y="304800"/>
            <a:ext cx="108712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66473"/>
                </a:solidFill>
                <a:latin typeface="Carlito"/>
              </a:rPr>
              <a:t xml:space="preserve">FIND THE REACHABLE FIRST MARKET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60400" y="762000"/>
            <a:ext cx="108712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4148"/>
              </a:lnSpc>
              <a:buNone/>
            </a:pPr>
            <a:r>
              <a:rPr lang="en-US" sz="3400" b="1" i="0">
                <a:solidFill>
                  <a:srgbClr val="252F3A"/>
                </a:solidFill>
                <a:latin typeface="Carlito"/>
              </a:rPr>
              <a:t xml:space="preserve">Next action: approve the pilot and own the review</a:t>
            </a:r>
            <a:endParaRPr lang="en-US" sz="3400"/>
          </a:p>
        </p:txBody>
      </p:sp>
      <p:sp>
        <p:nvSpPr>
          <p:cNvPr id="4" name="Shape 4"/>
          <p:cNvSpPr/>
          <p:nvPr/>
        </p:nvSpPr>
        <p:spPr>
          <a:xfrm>
            <a:off x="6604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636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Owner</a:t>
            </a:r>
            <a:endParaRPr lang="en-US" sz="2200"/>
          </a:p>
        </p:txBody>
      </p:sp>
      <p:sp>
        <p:nvSpPr>
          <p:cNvPr id="6" name="Text 6"/>
          <p:cNvSpPr txBox="1"/>
          <p:nvPr/>
        </p:nvSpPr>
        <p:spPr>
          <a:xfrm>
            <a:off x="8636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Market research lead owns the first milestone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and its evidence.</a:t>
            </a:r>
            <a:endParaRPr lang="en-US" sz="20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21300" cy="3505200"/>
          </a:xfrm>
          <a:prstGeom prst="roundRect">
            <a:avLst/>
          </a:prstGeom>
          <a:solidFill>
            <a:srgbClr val="E8EC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149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1" i="0">
                <a:solidFill>
                  <a:srgbClr val="252F3A"/>
                </a:solidFill>
                <a:latin typeface="Carlito"/>
              </a:rPr>
              <a:t xml:space="preserve">Review</a:t>
            </a:r>
            <a:endParaRPr lang="en-US" sz="22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14900" cy="218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Inspect the pilot evidence before approving </a:t>
            </a:r>
            <a:endParaRPr lang="en-US" sz="2000"/>
          </a:p>
          <a:p>
            <a:pPr>
              <a:lnSpc>
                <a:spcPts val="2440"/>
              </a:lnSpc>
              <a:buNone/>
            </a:pPr>
            <a:r>
              <a:rPr lang="en-US" sz="2000" b="0" i="0">
                <a:solidFill>
                  <a:srgbClr val="252F3A"/>
                </a:solidFill>
                <a:latin typeface="Carlito"/>
              </a:rPr>
              <a:t xml:space="preserve">the next stage.</a:t>
            </a:r>
            <a:endParaRPr lang="en-US" sz="2000"/>
          </a:p>
        </p:txBody>
      </p:sp>
      <p:sp>
        <p:nvSpPr>
          <p:cNvPr id="10" name="Shape 10"/>
          <p:cNvSpPr/>
          <p:nvPr/>
        </p:nvSpPr>
        <p:spPr>
          <a:xfrm>
            <a:off x="660400" y="6375400"/>
            <a:ext cx="10871200" cy="6350"/>
          </a:xfrm>
          <a:prstGeom prst="line">
            <a:avLst/>
          </a:prstGeom>
          <a:noFill/>
          <a:ln w="6350">
            <a:solidFill>
              <a:srgbClr val="566473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60400" y="6502400"/>
            <a:ext cx="101092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09601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66473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earch">
  <a:themeElements>
    <a:clrScheme name="Storyboard">
      <a:dk1>
        <a:srgbClr val="252F3A"/>
      </a:dk1>
      <a:lt1>
        <a:srgbClr val="F8F7F3"/>
      </a:lt1>
      <a:dk2>
        <a:srgbClr val="566473"/>
      </a:dk2>
      <a:lt2>
        <a:srgbClr val="E8ECED"/>
      </a:lt2>
      <a:accent1>
        <a:srgbClr val="416A92"/>
      </a:accent1>
      <a:accent2>
        <a:srgbClr val="566473"/>
      </a:accent2>
      <a:accent3>
        <a:srgbClr val="416A92"/>
      </a:accent3>
      <a:accent4>
        <a:srgbClr val="252F3A"/>
      </a:accent4>
      <a:accent5>
        <a:srgbClr val="566473"/>
      </a:accent5>
      <a:accent6>
        <a:srgbClr val="416A92"/>
      </a:accent6>
      <a:hlink>
        <a:srgbClr val="416A92"/>
      </a:hlink>
      <a:folHlink>
        <a:srgbClr val="566473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Find the reachable first market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a45f01b68feb929ae14107d74b987b255bf401e41d1d7d7197b2898609cfa5ae</vt:lpwstr>
  </property>
</Properties>
</file>