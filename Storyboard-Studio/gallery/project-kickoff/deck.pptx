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820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820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820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820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820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820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02820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project kickoff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052"/>
                </a:solidFill>
                <a:latin typeface="Carlito"/>
              </a:rPr>
              <a:t xml:space="preserve">START WITH AN OWNED DECISION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392"/>
              </a:lnSpc>
              <a:buNone/>
            </a:pPr>
            <a:r>
              <a:rPr lang="en-US" sz="3600" b="1" i="0">
                <a:solidFill>
                  <a:srgbClr val="202820"/>
                </a:solidFill>
                <a:latin typeface="Carlito"/>
              </a:rPr>
              <a:t xml:space="preserve">The context for project kickoff</a:t>
            </a:r>
            <a:endParaRPr lang="en-US" sz="36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This fictional team needs a decision it can explain, execute, and revisit. The kickoff describes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ambition without an owner or stop condition.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66052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052"/>
                </a:solidFill>
                <a:latin typeface="Carlito"/>
              </a:rPr>
              <a:t xml:space="preserve">START WITH AN OWNED DECISION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392"/>
              </a:lnSpc>
              <a:buNone/>
            </a:pPr>
            <a:r>
              <a:rPr lang="en-US" sz="3600" b="1" i="0">
                <a:solidFill>
                  <a:srgbClr val="202820"/>
                </a:solidFill>
                <a:latin typeface="Carlito"/>
              </a:rPr>
              <a:t xml:space="preserve">The problem is the missing decision boundary</a:t>
            </a:r>
            <a:endParaRPr lang="en-US" sz="36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The kickoff describes ambition without an owner or stop condition.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66052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052"/>
                </a:solidFill>
                <a:latin typeface="Carlito"/>
              </a:rPr>
              <a:t xml:space="preserve">START WITH AN OWNED DECISION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392"/>
              </a:lnSpc>
              <a:buNone/>
            </a:pPr>
            <a:r>
              <a:rPr lang="en-US" sz="3600" b="1" i="0">
                <a:solidFill>
                  <a:srgbClr val="202820"/>
                </a:solidFill>
                <a:latin typeface="Carlito"/>
              </a:rPr>
              <a:t xml:space="preserve">Evidence to gather before committing</a:t>
            </a:r>
            <a:endParaRPr lang="en-US" sz="36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160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8296"/>
              </a:lnSpc>
              <a:buNone/>
            </a:pPr>
            <a:r>
              <a:rPr lang="en-US" sz="6800" b="1" i="0">
                <a:solidFill>
                  <a:srgbClr val="336943"/>
                </a:solidFill>
                <a:latin typeface="Carlito"/>
              </a:rPr>
              <a:t xml:space="preserve">1</a:t>
            </a:r>
            <a:endParaRPr lang="en-US" sz="6800"/>
          </a:p>
        </p:txBody>
      </p:sp>
      <p:sp>
        <p:nvSpPr>
          <p:cNvPr id="5" name="Text 5"/>
          <p:cNvSpPr txBox="1"/>
          <p:nvPr/>
        </p:nvSpPr>
        <p:spPr>
          <a:xfrm>
            <a:off x="609600" y="39370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416"/>
              </a:lnSpc>
              <a:buNone/>
            </a:pPr>
            <a:r>
              <a:rPr lang="en-US" sz="2800" b="1" i="0">
                <a:solidFill>
                  <a:srgbClr val="202820"/>
                </a:solidFill>
                <a:latin typeface="Carlito"/>
              </a:rPr>
              <a:t xml:space="preserve">Bounded workflow first</a:t>
            </a:r>
            <a:endParaRPr lang="en-US" sz="2800"/>
          </a:p>
        </p:txBody>
      </p:sp>
      <p:sp>
        <p:nvSpPr>
          <p:cNvPr id="6" name="Text 6"/>
          <p:cNvSpPr txBox="1"/>
          <p:nvPr/>
        </p:nvSpPr>
        <p:spPr>
          <a:xfrm>
            <a:off x="609600" y="4826000"/>
            <a:ext cx="10972800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566052"/>
                </a:solidFill>
                <a:latin typeface="Carlito"/>
              </a:rPr>
              <a:t xml:space="preserve">An authored scope constraint for this fictional scenario, not a measured product result.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66052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9" name="Text 9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052"/>
                </a:solidFill>
                <a:latin typeface="Carlito"/>
              </a:rPr>
              <a:t xml:space="preserve">START WITH AN OWNED DECISION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392"/>
              </a:lnSpc>
              <a:buNone/>
            </a:pPr>
            <a:r>
              <a:rPr lang="en-US" sz="3600" b="1" i="0">
                <a:solidFill>
                  <a:srgbClr val="202820"/>
                </a:solidFill>
                <a:latin typeface="Carlito"/>
              </a:rPr>
              <a:t xml:space="preserve">Two paths make the trade-off explicit</a:t>
            </a:r>
            <a:endParaRPr lang="en-US" sz="36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EBEEE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202820"/>
                </a:solidFill>
                <a:latin typeface="Carlito"/>
              </a:rPr>
              <a:t xml:space="preserve">Run all workstreams immediately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Faster to start, with the current operating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limitations.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EBEEE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202820"/>
                </a:solidFill>
                <a:latin typeface="Carlito"/>
              </a:rPr>
              <a:t xml:space="preserve">Define the first measurable milestone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More focused initial work, with a clearer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review boundary.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66052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052"/>
                </a:solidFill>
                <a:latin typeface="Carlito"/>
              </a:rPr>
              <a:t xml:space="preserve">START WITH AN OWNED DECISION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392"/>
              </a:lnSpc>
              <a:buNone/>
            </a:pPr>
            <a:r>
              <a:rPr lang="en-US" sz="3600" b="1" i="0">
                <a:solidFill>
                  <a:srgbClr val="202820"/>
                </a:solidFill>
                <a:latin typeface="Carlito"/>
              </a:rPr>
              <a:t xml:space="preserve">Recommend the bounded path</a:t>
            </a:r>
            <a:endParaRPr lang="en-US" sz="36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Assign a single milestone owner and inspect evidence before expanding scope.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66052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052"/>
                </a:solidFill>
                <a:latin typeface="Carlito"/>
              </a:rPr>
              <a:t xml:space="preserve">START WITH AN OWNED DECISION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392"/>
              </a:lnSpc>
              <a:buNone/>
            </a:pPr>
            <a:r>
              <a:rPr lang="en-US" sz="3600" b="1" i="0">
                <a:solidFill>
                  <a:srgbClr val="202820"/>
                </a:solidFill>
                <a:latin typeface="Carlito"/>
              </a:rPr>
              <a:t xml:space="preserve">Risks to review before expansion</a:t>
            </a:r>
            <a:endParaRPr lang="en-US" sz="36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Keep the scope narrow. Check whether the new workflow adds manual effort or moves risk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elsewhere. Record the unresolved question instead of treating an assumption as a finding.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66052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052"/>
                </a:solidFill>
                <a:latin typeface="Carlito"/>
              </a:rPr>
              <a:t xml:space="preserve">START WITH AN OWNED DECISION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392"/>
              </a:lnSpc>
              <a:buNone/>
            </a:pPr>
            <a:r>
              <a:rPr lang="en-US" sz="3600" b="1" i="0">
                <a:solidFill>
                  <a:srgbClr val="202820"/>
                </a:solidFill>
                <a:latin typeface="Carlito"/>
              </a:rPr>
              <a:t xml:space="preserve">Next action: approve the pilot and own the review</a:t>
            </a:r>
            <a:endParaRPr lang="en-US" sz="36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EBEEE7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202820"/>
                </a:solidFill>
                <a:latin typeface="Carlito"/>
              </a:rPr>
              <a:t xml:space="preserve">Owner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Delivery lead owns the first milestone and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its evidence.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EBEEE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202820"/>
                </a:solidFill>
                <a:latin typeface="Carlito"/>
              </a:rPr>
              <a:t xml:space="preserve">Review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Inspect the pilot evidence before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202820"/>
                </a:solidFill>
                <a:latin typeface="Carlito"/>
              </a:rPr>
              <a:t xml:space="preserve">approving the next stage.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66052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052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Storyboard">
      <a:dk1>
        <a:srgbClr val="202820"/>
      </a:dk1>
      <a:lt1>
        <a:srgbClr val="FAFAF7"/>
      </a:lt1>
      <a:dk2>
        <a:srgbClr val="566052"/>
      </a:dk2>
      <a:lt2>
        <a:srgbClr val="EBEEE7"/>
      </a:lt2>
      <a:accent1>
        <a:srgbClr val="336943"/>
      </a:accent1>
      <a:accent2>
        <a:srgbClr val="566052"/>
      </a:accent2>
      <a:accent3>
        <a:srgbClr val="336943"/>
      </a:accent3>
      <a:accent4>
        <a:srgbClr val="202820"/>
      </a:accent4>
      <a:accent5>
        <a:srgbClr val="566052"/>
      </a:accent5>
      <a:accent6>
        <a:srgbClr val="336943"/>
      </a:accent6>
      <a:hlink>
        <a:srgbClr val="336943"/>
      </a:hlink>
      <a:folHlink>
        <a:srgbClr val="566052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Start with an owned decision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cf3b1c755d0f0583f4c9b771c5010a4dc1ecabb61677d7ccec0ed53f185f36c1</vt:lpwstr>
  </property>
</Properties>
</file>