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lnSpc>
                <a:spcPts val="2196"/>
              </a:lnSpc>
              <a:buNone/>
            </a:pPr>
            <a:r>
              <a:rPr lang="en-US" sz="1800" b="0" i="0">
                <a:solidFill>
                  <a:srgbClr val="241F19"/>
                </a:solidFill>
                <a:latin typeface="Carlito"/>
              </a:rPr>
              <a:t xml:space="preserve">Illustrative pilot checkpoints</a:t>
            </a:r>
            <a:endParaRPr lang="en-US" sz="1800"/>
          </a:p>
        </c:rich>
      </c:tx>
    </c:title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score</c:v>
                </c:pt>
              </c:strCache>
            </c:strRef>
          </c:tx>
          <c:spPr>
            <a:solidFill>
              <a:srgbClr val="B53E25"/>
            </a:solidFill>
          </c:spPr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Pilot</c:v>
                </c:pt>
                <c:pt idx="2">
                  <c:v>Review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30</c:v>
                </c:pt>
                <c:pt idx="2">
                  <c:v>30</c:v>
                </c:pt>
              </c:numCache>
            </c:numRef>
          </c:val>
        </c:ser>
        <c:axId val="1"/>
        <c:axId val="2"/>
      </c:lineChart>
      <c:catAx>
        <c:axId val="1"/>
        <c:scaling>
          <c:orientation val="minMax"/>
        </c:scaling>
        <c:axPos val="b"/>
        <c:txPr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/>
            </a:r>
            <a:endParaRPr lang="en-US" sz="1200"/>
          </a:p>
        </c:txPr>
        <c:crossAx val="2"/>
        <c:crosses val="autoZero"/>
      </c:catAx>
      <c:valAx>
        <c:axId val="2"/>
        <c:scaling>
          <c:orientation val="minMax"/>
        </c:scaling>
        <c:axPos val="l"/>
        <c:numFmt formatCode="General" sourceLinked="0"/>
        <c:txPr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/>
            </a:r>
            <a:endParaRPr lang="en-US" sz="1200"/>
          </a:p>
        </c:txPr>
        <c:crossAx val="1"/>
        <c:crosses val="autoZero"/>
        <c:crossBetween val="between"/>
      </c:valAx>
    </c:plotArea>
    <c:legend>
      <c:legendPos val="b"/>
    </c:legend>
    <c:plotVisOnly val="1"/>
  </c:chart>
  <c:spPr>
    <a:solidFill>
      <a:srgbClr val="FDF9F2"/>
    </a:solidFill>
  </c:spPr>
  <c:externalData r:id="rId1">
    <c:autoUpdate val="0"/>
  </c:externalData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workflow design"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65E53"/>
                </a:solidFill>
                <a:latin typeface="Carlito"/>
              </a:rPr>
              <a:t xml:space="preserve">MAKE THE NEXT STEP VISIBLE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856"/>
              </a:lnSpc>
              <a:buNone/>
            </a:pPr>
            <a:r>
              <a:rPr lang="en-US" sz="4800" b="1" i="0">
                <a:solidFill>
                  <a:srgbClr val="241F19"/>
                </a:solidFill>
                <a:latin typeface="Carlito"/>
              </a:rPr>
              <a:t xml:space="preserve">The context for workflow design</a:t>
            </a:r>
            <a:endParaRPr lang="en-US" sz="4800"/>
          </a:p>
        </p:txBody>
      </p:sp>
      <p:sp>
        <p:nvSpPr>
          <p:cNvPr id="4" name="Text 4"/>
          <p:cNvSpPr txBox="1"/>
          <p:nvPr/>
        </p:nvSpPr>
        <p:spPr>
          <a:xfrm>
            <a:off x="711200" y="2336800"/>
            <a:ext cx="10769600" cy="345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This fictional team needs a decision it can explain, execute, and revisit. Readers see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many controls without knowing which action advances the task.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65E5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65E53"/>
                </a:solidFill>
                <a:latin typeface="Carlito"/>
              </a:rPr>
              <a:t xml:space="preserve">MAKE THE NEXT STEP VISIBLE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368"/>
              </a:lnSpc>
              <a:buNone/>
            </a:pPr>
            <a:r>
              <a:rPr lang="en-US" sz="4400" b="1" i="0">
                <a:solidFill>
                  <a:srgbClr val="241F19"/>
                </a:solidFill>
                <a:latin typeface="Carlito"/>
              </a:rPr>
              <a:t xml:space="preserve">The problem is the missing decision boundary</a:t>
            </a:r>
            <a:endParaRPr lang="en-US" sz="4400"/>
          </a:p>
        </p:txBody>
      </p:sp>
      <p:sp>
        <p:nvSpPr>
          <p:cNvPr id="4" name="Text 4"/>
          <p:cNvSpPr txBox="1"/>
          <p:nvPr/>
        </p:nvSpPr>
        <p:spPr>
          <a:xfrm>
            <a:off x="711200" y="2336800"/>
            <a:ext cx="10769600" cy="345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Readers see many controls without knowing which action advances the task.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65E5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65E53"/>
                </a:solidFill>
                <a:latin typeface="Carlito"/>
              </a:rPr>
              <a:t xml:space="preserve">MAKE THE NEXT STEP VISIBLE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856"/>
              </a:lnSpc>
              <a:buNone/>
            </a:pPr>
            <a:r>
              <a:rPr lang="en-US" sz="4800" b="1" i="0">
                <a:solidFill>
                  <a:srgbClr val="241F19"/>
                </a:solidFill>
                <a:latin typeface="Carlito"/>
              </a:rPr>
              <a:t xml:space="preserve">Evidence to gather before committing</a:t>
            </a:r>
            <a:endParaRPr lang="en-US" sz="4800"/>
          </a:p>
        </p:txBody>
      </p:sp>
      <p:graphicFrame>
        <p:nvGraphicFramePr>
          <p:cNvPr id="4" name="Chart 4"/>
          <p:cNvGraphicFramePr/>
          <p:nvPr/>
        </p:nvGraphicFramePr>
        <p:xfrm>
          <a:off x="711200" y="2336800"/>
          <a:ext cx="10769600" cy="3454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Shape 5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65E5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65E53"/>
                </a:solidFill>
                <a:latin typeface="Carlito"/>
              </a:rPr>
              <a:t xml:space="preserve">MAKE THE NEXT STEP VISIBLE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856"/>
              </a:lnSpc>
              <a:buNone/>
            </a:pPr>
            <a:r>
              <a:rPr lang="en-US" sz="4800" b="1" i="0">
                <a:solidFill>
                  <a:srgbClr val="241F19"/>
                </a:solidFill>
                <a:latin typeface="Carlito"/>
              </a:rPr>
              <a:t xml:space="preserve">Two paths make the trade-off explicit</a:t>
            </a:r>
            <a:endParaRPr lang="en-US" sz="4800"/>
          </a:p>
        </p:txBody>
      </p:sp>
      <p:sp>
        <p:nvSpPr>
          <p:cNvPr id="4" name="Shape 4"/>
          <p:cNvSpPr/>
          <p:nvPr/>
        </p:nvSpPr>
        <p:spPr>
          <a:xfrm>
            <a:off x="711200" y="2336800"/>
            <a:ext cx="5270500" cy="3454400"/>
          </a:xfrm>
          <a:prstGeom prst="roundRect">
            <a:avLst/>
          </a:prstGeom>
          <a:solidFill>
            <a:srgbClr val="ECE5DA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14400" y="2540000"/>
            <a:ext cx="48641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241F19"/>
                </a:solidFill>
                <a:latin typeface="Carlito"/>
              </a:rPr>
              <a:t xml:space="preserve">Expose every control at once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914400" y="3454400"/>
            <a:ext cx="4864100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Faster to start, with the current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operating limitations.</a:t>
            </a:r>
            <a:endParaRPr lang="en-US" sz="24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270500" cy="3454400"/>
          </a:xfrm>
          <a:prstGeom prst="roundRect">
            <a:avLst/>
          </a:prstGeom>
          <a:solidFill>
            <a:srgbClr val="ECE5DA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8641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241F19"/>
                </a:solidFill>
                <a:latin typeface="Carlito"/>
              </a:rPr>
              <a:t xml:space="preserve">Guide the primary path</a:t>
            </a:r>
            <a:endParaRPr lang="en-US" sz="26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864100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More focused initial work, with a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clearer review boundary.</a:t>
            </a:r>
            <a:endParaRPr lang="en-US" sz="2400"/>
          </a:p>
        </p:txBody>
      </p:sp>
      <p:sp>
        <p:nvSpPr>
          <p:cNvPr id="10" name="Shape 10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65E53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65E53"/>
                </a:solidFill>
                <a:latin typeface="Carlito"/>
              </a:rPr>
              <a:t xml:space="preserve">MAKE THE NEXT STEP VISIBLE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856"/>
              </a:lnSpc>
              <a:buNone/>
            </a:pPr>
            <a:r>
              <a:rPr lang="en-US" sz="4800" b="1" i="0">
                <a:solidFill>
                  <a:srgbClr val="241F19"/>
                </a:solidFill>
                <a:latin typeface="Carlito"/>
              </a:rPr>
              <a:t xml:space="preserve">Recommend the bounded path</a:t>
            </a:r>
            <a:endParaRPr lang="en-US" sz="4800"/>
          </a:p>
        </p:txBody>
      </p:sp>
      <p:sp>
        <p:nvSpPr>
          <p:cNvPr id="4" name="Text 4"/>
          <p:cNvSpPr txBox="1"/>
          <p:nvPr/>
        </p:nvSpPr>
        <p:spPr>
          <a:xfrm>
            <a:off x="711200" y="2336800"/>
            <a:ext cx="10769600" cy="345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Keep advanced controls available while making the next action explicit.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65E5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65E53"/>
                </a:solidFill>
                <a:latin typeface="Carlito"/>
              </a:rPr>
              <a:t xml:space="preserve">MAKE THE NEXT STEP VISIBLE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856"/>
              </a:lnSpc>
              <a:buNone/>
            </a:pPr>
            <a:r>
              <a:rPr lang="en-US" sz="4800" b="1" i="0">
                <a:solidFill>
                  <a:srgbClr val="241F19"/>
                </a:solidFill>
                <a:latin typeface="Carlito"/>
              </a:rPr>
              <a:t xml:space="preserve">Risks to review before expansion</a:t>
            </a:r>
            <a:endParaRPr lang="en-US" sz="4800"/>
          </a:p>
        </p:txBody>
      </p:sp>
      <p:sp>
        <p:nvSpPr>
          <p:cNvPr id="4" name="Text 4"/>
          <p:cNvSpPr txBox="1"/>
          <p:nvPr/>
        </p:nvSpPr>
        <p:spPr>
          <a:xfrm>
            <a:off x="711200" y="2336800"/>
            <a:ext cx="10769600" cy="345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Keep the scope narrow. Check whether the new workflow adds manual effort or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moves risk elsewhere. Record the unresolved question instead of treating an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assumption as a finding.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65E5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65E53"/>
                </a:solidFill>
                <a:latin typeface="Carlito"/>
              </a:rPr>
              <a:t xml:space="preserve">MAKE THE NEXT STEP VISIBLE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002"/>
              </a:lnSpc>
              <a:buNone/>
            </a:pPr>
            <a:r>
              <a:rPr lang="en-US" sz="4100" b="1" i="0">
                <a:solidFill>
                  <a:srgbClr val="241F19"/>
                </a:solidFill>
                <a:latin typeface="Carlito"/>
              </a:rPr>
              <a:t xml:space="preserve">Next action: approve the pilot and own the </a:t>
            </a:r>
            <a:endParaRPr lang="en-US" sz="4100"/>
          </a:p>
          <a:p>
            <a:pPr>
              <a:lnSpc>
                <a:spcPts val="5002"/>
              </a:lnSpc>
              <a:buNone/>
            </a:pPr>
            <a:r>
              <a:rPr lang="en-US" sz="4100" b="1" i="0">
                <a:solidFill>
                  <a:srgbClr val="241F19"/>
                </a:solidFill>
                <a:latin typeface="Carlito"/>
              </a:rPr>
              <a:t xml:space="preserve">review</a:t>
            </a:r>
            <a:endParaRPr lang="en-US" sz="4100"/>
          </a:p>
        </p:txBody>
      </p:sp>
      <p:sp>
        <p:nvSpPr>
          <p:cNvPr id="4" name="Shape 4"/>
          <p:cNvSpPr/>
          <p:nvPr/>
        </p:nvSpPr>
        <p:spPr>
          <a:xfrm>
            <a:off x="711200" y="2336800"/>
            <a:ext cx="5270500" cy="3454400"/>
          </a:xfrm>
          <a:prstGeom prst="roundRect">
            <a:avLst/>
          </a:prstGeom>
          <a:solidFill>
            <a:srgbClr val="ECE5DA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14400" y="2540000"/>
            <a:ext cx="48641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241F19"/>
                </a:solidFill>
                <a:latin typeface="Carlito"/>
              </a:rPr>
              <a:t xml:space="preserve">Owner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914400" y="3454400"/>
            <a:ext cx="4864100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Design lead owns the first milestone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and its evidence.</a:t>
            </a:r>
            <a:endParaRPr lang="en-US" sz="24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270500" cy="3454400"/>
          </a:xfrm>
          <a:prstGeom prst="roundRect">
            <a:avLst/>
          </a:prstGeom>
          <a:solidFill>
            <a:srgbClr val="ECE5DA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8641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241F19"/>
                </a:solidFill>
                <a:latin typeface="Carlito"/>
              </a:rPr>
              <a:t xml:space="preserve">Review</a:t>
            </a:r>
            <a:endParaRPr lang="en-US" sz="26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864100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Inspect the pilot evidence before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approving the next stage.</a:t>
            </a:r>
            <a:endParaRPr lang="en-US" sz="2400"/>
          </a:p>
        </p:txBody>
      </p:sp>
      <p:sp>
        <p:nvSpPr>
          <p:cNvPr id="10" name="Shape 10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65E53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toryboard">
      <a:dk1>
        <a:srgbClr val="241F19"/>
      </a:dk1>
      <a:lt1>
        <a:srgbClr val="FDF9F2"/>
      </a:lt1>
      <a:dk2>
        <a:srgbClr val="665E53"/>
      </a:dk2>
      <a:lt2>
        <a:srgbClr val="ECE5DA"/>
      </a:lt2>
      <a:accent1>
        <a:srgbClr val="B53E25"/>
      </a:accent1>
      <a:accent2>
        <a:srgbClr val="665E53"/>
      </a:accent2>
      <a:accent3>
        <a:srgbClr val="B53E25"/>
      </a:accent3>
      <a:accent4>
        <a:srgbClr val="241F19"/>
      </a:accent4>
      <a:accent5>
        <a:srgbClr val="665E53"/>
      </a:accent5>
      <a:accent6>
        <a:srgbClr val="B53E25"/>
      </a:accent6>
      <a:hlink>
        <a:srgbClr val="B53E25"/>
      </a:hlink>
      <a:folHlink>
        <a:srgbClr val="665E53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7</Slides>
  <Notes>7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Make the next step visible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1ade453a6abd3f65c7606b7d6f0f83297e74f877da5b0296b45d151d6eaa7c71</vt:lpwstr>
  </property>
</Properties>
</file>