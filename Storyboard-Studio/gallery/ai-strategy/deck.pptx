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xlsx" ContentType="application/vnd.openxmlformats-officedocument.spreadsheetml.sheet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 type="screen16x9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notesStyle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E5F0EE"/>
                </a:solidFill>
                <a:latin typeface="Carlito"/>
              </a:rPr>
              <a:t xml:space="preserve">Synthetic scenario. Figures, roles and organizations are invented to demonstrate the renderer.
</a:t>
            </a:r>
            <a:endParaRPr lang="en-US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E5F0EE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E5F0EE"/>
                </a:solidFill>
                <a:latin typeface="Carlito"/>
              </a:rPr>
              <a:t xml:space="preserve">
Source: Synthetic gallery input · Authored fixture · No real customer, market or investment results are claimed. · author-confirmed: false</a:t>
            </a:r>
            <a:endParaRPr lang="en-US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E5F0EE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E5F0EE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E5F0EE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E5F0EE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he context for AI adoption">
    <p:bg>
      <p:bgPr>
        <a:solidFill>
          <a:srgbClr val="101C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8000" y="304800"/>
            <a:ext cx="11176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9EB7B6"/>
                </a:solidFill>
                <a:latin typeface="Carlito"/>
              </a:rPr>
              <a:t xml:space="preserve">WHERE AI EARNS A PLACE IN THE WORKFLOW  /  OPTIONS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508000" y="762000"/>
            <a:ext cx="111760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3904"/>
              </a:lnSpc>
              <a:buNone/>
            </a:pPr>
            <a:r>
              <a:rPr lang="en-US" sz="3200" b="1" i="0">
                <a:solidFill>
                  <a:srgbClr val="E5F0EE"/>
                </a:solidFill>
                <a:latin typeface="Carlito"/>
              </a:rPr>
              <a:t xml:space="preserve">The context for AI adoption</a:t>
            </a:r>
            <a:endParaRPr lang="en-US" sz="3200"/>
          </a:p>
        </p:txBody>
      </p:sp>
      <p:sp>
        <p:nvSpPr>
          <p:cNvPr id="4" name="Text 4"/>
          <p:cNvSpPr txBox="1"/>
          <p:nvPr/>
        </p:nvSpPr>
        <p:spPr>
          <a:xfrm>
            <a:off x="508000" y="2336800"/>
            <a:ext cx="11176000" cy="3657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E5F0EE"/>
                </a:solidFill>
                <a:latin typeface="Carlito"/>
              </a:rPr>
              <a:t xml:space="preserve">This fictional team needs a decision it can explain, execute, and revisit. The team has prototypes but no </a:t>
            </a:r>
            <a:endParaRPr lang="en-US" sz="2000"/>
          </a:p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E5F0EE"/>
                </a:solidFill>
                <a:latin typeface="Carlito"/>
              </a:rPr>
              <a:t xml:space="preserve">agreed evaluation boundary.</a:t>
            </a:r>
            <a:endParaRPr lang="en-US" sz="2000"/>
          </a:p>
        </p:txBody>
      </p:sp>
      <p:sp>
        <p:nvSpPr>
          <p:cNvPr id="5" name="Shape 5"/>
          <p:cNvSpPr/>
          <p:nvPr/>
        </p:nvSpPr>
        <p:spPr>
          <a:xfrm>
            <a:off x="508000" y="6375400"/>
            <a:ext cx="11176000" cy="6350"/>
          </a:xfrm>
          <a:prstGeom prst="line">
            <a:avLst/>
          </a:prstGeom>
          <a:noFill/>
          <a:ln w="6350">
            <a:solidFill>
              <a:srgbClr val="9EB7B6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508000" y="6502400"/>
            <a:ext cx="10414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9EB7B6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11125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9EB7B6"/>
                </a:solidFill>
                <a:latin typeface="Carlito"/>
              </a:rPr>
              <a:t xml:space="preserve">01</a:t>
            </a:r>
            <a:endParaRPr lang="en-US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he problem is the missing decision boundary">
    <p:bg>
      <p:bgPr>
        <a:solidFill>
          <a:srgbClr val="101C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8000" y="304800"/>
            <a:ext cx="11176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9EB7B6"/>
                </a:solidFill>
                <a:latin typeface="Carlito"/>
              </a:rPr>
              <a:t xml:space="preserve">WHERE AI EARNS A PLACE IN THE WORKFLOW  /  RECOMMENDATION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508000" y="762000"/>
            <a:ext cx="111760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3904"/>
              </a:lnSpc>
              <a:buNone/>
            </a:pPr>
            <a:r>
              <a:rPr lang="en-US" sz="3200" b="1" i="0">
                <a:solidFill>
                  <a:srgbClr val="E5F0EE"/>
                </a:solidFill>
                <a:latin typeface="Carlito"/>
              </a:rPr>
              <a:t xml:space="preserve">The problem is the missing decision boundary</a:t>
            </a:r>
            <a:endParaRPr lang="en-US" sz="3200"/>
          </a:p>
        </p:txBody>
      </p:sp>
      <p:sp>
        <p:nvSpPr>
          <p:cNvPr id="4" name="Text 4"/>
          <p:cNvSpPr txBox="1"/>
          <p:nvPr/>
        </p:nvSpPr>
        <p:spPr>
          <a:xfrm>
            <a:off x="508000" y="2336800"/>
            <a:ext cx="11176000" cy="3657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E5F0EE"/>
                </a:solidFill>
                <a:latin typeface="Carlito"/>
              </a:rPr>
              <a:t xml:space="preserve">The team has prototypes but no agreed evaluation boundary.</a:t>
            </a:r>
            <a:endParaRPr lang="en-US" sz="2000"/>
          </a:p>
        </p:txBody>
      </p:sp>
      <p:sp>
        <p:nvSpPr>
          <p:cNvPr id="5" name="Shape 5"/>
          <p:cNvSpPr/>
          <p:nvPr/>
        </p:nvSpPr>
        <p:spPr>
          <a:xfrm>
            <a:off x="508000" y="6375400"/>
            <a:ext cx="11176000" cy="6350"/>
          </a:xfrm>
          <a:prstGeom prst="line">
            <a:avLst/>
          </a:prstGeom>
          <a:noFill/>
          <a:ln w="6350">
            <a:solidFill>
              <a:srgbClr val="9EB7B6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508000" y="6502400"/>
            <a:ext cx="10414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9EB7B6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11125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9EB7B6"/>
                </a:solidFill>
                <a:latin typeface="Carlito"/>
              </a:rPr>
              <a:t xml:space="preserve">02</a:t>
            </a:r>
            <a:endParaRPr lang="en-US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Evidence to gather before committing">
    <p:bg>
      <p:bgPr>
        <a:solidFill>
          <a:srgbClr val="101C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8000" y="304800"/>
            <a:ext cx="11176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9EB7B6"/>
                </a:solidFill>
                <a:latin typeface="Carlito"/>
              </a:rPr>
              <a:t xml:space="preserve">WHERE AI EARNS A PLACE IN THE WORKFLOW  /  EVIDENCE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508000" y="762000"/>
            <a:ext cx="111760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3904"/>
              </a:lnSpc>
              <a:buNone/>
            </a:pPr>
            <a:r>
              <a:rPr lang="en-US" sz="3200" b="1" i="0">
                <a:solidFill>
                  <a:srgbClr val="E5F0EE"/>
                </a:solidFill>
                <a:latin typeface="Carlito"/>
              </a:rPr>
              <a:t xml:space="preserve">Evidence to gather before committing</a:t>
            </a:r>
            <a:endParaRPr lang="en-US" sz="3200"/>
          </a:p>
        </p:txBody>
      </p:sp>
      <p:sp>
        <p:nvSpPr>
          <p:cNvPr id="4" name="Text 4"/>
          <p:cNvSpPr txBox="1"/>
          <p:nvPr/>
        </p:nvSpPr>
        <p:spPr>
          <a:xfrm>
            <a:off x="508000" y="2336800"/>
            <a:ext cx="11176000" cy="1645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8296"/>
              </a:lnSpc>
              <a:buNone/>
            </a:pPr>
            <a:r>
              <a:rPr lang="en-US" sz="6800" b="1" i="0">
                <a:solidFill>
                  <a:srgbClr val="70DDB6"/>
                </a:solidFill>
                <a:latin typeface="Carlito"/>
              </a:rPr>
              <a:t xml:space="preserve">1</a:t>
            </a:r>
            <a:endParaRPr lang="en-US" sz="6800"/>
          </a:p>
        </p:txBody>
      </p:sp>
      <p:sp>
        <p:nvSpPr>
          <p:cNvPr id="5" name="Text 5"/>
          <p:cNvSpPr txBox="1"/>
          <p:nvPr/>
        </p:nvSpPr>
        <p:spPr>
          <a:xfrm>
            <a:off x="508000" y="3982720"/>
            <a:ext cx="11176000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3172"/>
              </a:lnSpc>
              <a:buNone/>
            </a:pPr>
            <a:r>
              <a:rPr lang="en-US" sz="2600" b="1" i="0">
                <a:solidFill>
                  <a:srgbClr val="E5F0EE"/>
                </a:solidFill>
                <a:latin typeface="Carlito"/>
              </a:rPr>
              <a:t xml:space="preserve">Bounded workflow first</a:t>
            </a:r>
            <a:endParaRPr lang="en-US" sz="2600"/>
          </a:p>
        </p:txBody>
      </p:sp>
      <p:sp>
        <p:nvSpPr>
          <p:cNvPr id="6" name="Text 6"/>
          <p:cNvSpPr txBox="1"/>
          <p:nvPr/>
        </p:nvSpPr>
        <p:spPr>
          <a:xfrm>
            <a:off x="508000" y="4897120"/>
            <a:ext cx="11176000" cy="1097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9EB7B6"/>
                </a:solidFill>
                <a:latin typeface="Carlito"/>
              </a:rPr>
              <a:t xml:space="preserve">An authored scope constraint for this fictional scenario, not a measured product result.</a:t>
            </a:r>
            <a:endParaRPr lang="en-US" sz="2000"/>
          </a:p>
        </p:txBody>
      </p:sp>
      <p:sp>
        <p:nvSpPr>
          <p:cNvPr id="7" name="Shape 7"/>
          <p:cNvSpPr/>
          <p:nvPr/>
        </p:nvSpPr>
        <p:spPr>
          <a:xfrm>
            <a:off x="508000" y="6375400"/>
            <a:ext cx="11176000" cy="6350"/>
          </a:xfrm>
          <a:prstGeom prst="line">
            <a:avLst/>
          </a:prstGeom>
          <a:noFill/>
          <a:ln w="6350">
            <a:solidFill>
              <a:srgbClr val="9EB7B6"/>
            </a:solidFill>
            <a:prstDash val="solid"/>
          </a:ln>
        </p:spPr>
      </p:sp>
      <p:sp>
        <p:nvSpPr>
          <p:cNvPr id="8" name="Text 8"/>
          <p:cNvSpPr txBox="1"/>
          <p:nvPr/>
        </p:nvSpPr>
        <p:spPr>
          <a:xfrm>
            <a:off x="508000" y="6502400"/>
            <a:ext cx="10414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9EB7B6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9" name="Text 9"/>
          <p:cNvSpPr txBox="1"/>
          <p:nvPr/>
        </p:nvSpPr>
        <p:spPr>
          <a:xfrm>
            <a:off x="111125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9EB7B6"/>
                </a:solidFill>
                <a:latin typeface="Carlito"/>
              </a:rPr>
              <a:t xml:space="preserve">03</a:t>
            </a:r>
            <a:endParaRPr lang="en-US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wo paths make the trade-off explicit">
    <p:bg>
      <p:bgPr>
        <a:solidFill>
          <a:srgbClr val="101C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8000" y="304800"/>
            <a:ext cx="11176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9EB7B6"/>
                </a:solidFill>
                <a:latin typeface="Carlito"/>
              </a:rPr>
              <a:t xml:space="preserve">WHERE AI EARNS A PLACE IN THE WORKFLOW  /  OPTIONS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508000" y="762000"/>
            <a:ext cx="111760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3904"/>
              </a:lnSpc>
              <a:buNone/>
            </a:pPr>
            <a:r>
              <a:rPr lang="en-US" sz="3200" b="1" i="0">
                <a:solidFill>
                  <a:srgbClr val="E5F0EE"/>
                </a:solidFill>
                <a:latin typeface="Carlito"/>
              </a:rPr>
              <a:t xml:space="preserve">Two paths make the trade-off explicit</a:t>
            </a:r>
            <a:endParaRPr lang="en-US" sz="3200"/>
          </a:p>
        </p:txBody>
      </p:sp>
      <p:sp>
        <p:nvSpPr>
          <p:cNvPr id="4" name="Shape 4"/>
          <p:cNvSpPr/>
          <p:nvPr/>
        </p:nvSpPr>
        <p:spPr>
          <a:xfrm>
            <a:off x="508000" y="2336800"/>
            <a:ext cx="5473700" cy="3657600"/>
          </a:xfrm>
          <a:prstGeom prst="roundRect">
            <a:avLst/>
          </a:prstGeom>
          <a:solidFill>
            <a:srgbClr val="1A3037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711200" y="2540000"/>
            <a:ext cx="50673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1" i="0">
                <a:solidFill>
                  <a:srgbClr val="E5F0EE"/>
                </a:solidFill>
                <a:latin typeface="Carlito"/>
              </a:rPr>
              <a:t xml:space="preserve">Roll out a broad assistant</a:t>
            </a:r>
            <a:endParaRPr lang="en-US" sz="2200"/>
          </a:p>
        </p:txBody>
      </p:sp>
      <p:sp>
        <p:nvSpPr>
          <p:cNvPr id="6" name="Text 6"/>
          <p:cNvSpPr txBox="1"/>
          <p:nvPr/>
        </p:nvSpPr>
        <p:spPr>
          <a:xfrm>
            <a:off x="711200" y="3454400"/>
            <a:ext cx="5067300" cy="233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E5F0EE"/>
                </a:solidFill>
                <a:latin typeface="Carlito"/>
              </a:rPr>
              <a:t xml:space="preserve">Faster to start, with the current operating </a:t>
            </a:r>
            <a:endParaRPr lang="en-US" sz="2000"/>
          </a:p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E5F0EE"/>
                </a:solidFill>
                <a:latin typeface="Carlito"/>
              </a:rPr>
              <a:t xml:space="preserve">limitations.</a:t>
            </a:r>
            <a:endParaRPr lang="en-US" sz="2000"/>
          </a:p>
        </p:txBody>
      </p:sp>
      <p:sp>
        <p:nvSpPr>
          <p:cNvPr id="7" name="Shape 7"/>
          <p:cNvSpPr/>
          <p:nvPr/>
        </p:nvSpPr>
        <p:spPr>
          <a:xfrm>
            <a:off x="6210300" y="2336800"/>
            <a:ext cx="5473700" cy="3657600"/>
          </a:xfrm>
          <a:prstGeom prst="roundRect">
            <a:avLst/>
          </a:prstGeom>
          <a:solidFill>
            <a:srgbClr val="1A3037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6413500" y="2540000"/>
            <a:ext cx="50673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1" i="0">
                <a:solidFill>
                  <a:srgbClr val="E5F0EE"/>
                </a:solidFill>
                <a:latin typeface="Carlito"/>
              </a:rPr>
              <a:t xml:space="preserve">Pilot one bounded drafting task</a:t>
            </a:r>
            <a:endParaRPr lang="en-US" sz="2200"/>
          </a:p>
        </p:txBody>
      </p:sp>
      <p:sp>
        <p:nvSpPr>
          <p:cNvPr id="9" name="Text 9"/>
          <p:cNvSpPr txBox="1"/>
          <p:nvPr/>
        </p:nvSpPr>
        <p:spPr>
          <a:xfrm>
            <a:off x="6413500" y="3454400"/>
            <a:ext cx="5067300" cy="233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E5F0EE"/>
                </a:solidFill>
                <a:latin typeface="Carlito"/>
              </a:rPr>
              <a:t xml:space="preserve">More focused initial work, with a clearer review </a:t>
            </a:r>
            <a:endParaRPr lang="en-US" sz="2000"/>
          </a:p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E5F0EE"/>
                </a:solidFill>
                <a:latin typeface="Carlito"/>
              </a:rPr>
              <a:t xml:space="preserve">boundary.</a:t>
            </a:r>
            <a:endParaRPr lang="en-US" sz="2000"/>
          </a:p>
        </p:txBody>
      </p:sp>
      <p:sp>
        <p:nvSpPr>
          <p:cNvPr id="10" name="Shape 10"/>
          <p:cNvSpPr/>
          <p:nvPr/>
        </p:nvSpPr>
        <p:spPr>
          <a:xfrm>
            <a:off x="508000" y="6375400"/>
            <a:ext cx="11176000" cy="6350"/>
          </a:xfrm>
          <a:prstGeom prst="line">
            <a:avLst/>
          </a:prstGeom>
          <a:noFill/>
          <a:ln w="6350">
            <a:solidFill>
              <a:srgbClr val="9EB7B6"/>
            </a:solidFill>
            <a:prstDash val="solid"/>
          </a:ln>
        </p:spPr>
      </p:sp>
      <p:sp>
        <p:nvSpPr>
          <p:cNvPr id="11" name="Text 11"/>
          <p:cNvSpPr txBox="1"/>
          <p:nvPr/>
        </p:nvSpPr>
        <p:spPr>
          <a:xfrm>
            <a:off x="508000" y="6502400"/>
            <a:ext cx="10414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9EB7B6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12" name="Text 12"/>
          <p:cNvSpPr txBox="1"/>
          <p:nvPr/>
        </p:nvSpPr>
        <p:spPr>
          <a:xfrm>
            <a:off x="111125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9EB7B6"/>
                </a:solidFill>
                <a:latin typeface="Carlito"/>
              </a:rPr>
              <a:t xml:space="preserve">04</a:t>
            </a:r>
            <a:endParaRPr lang="en-US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Recommend the bounded path">
    <p:bg>
      <p:bgPr>
        <a:solidFill>
          <a:srgbClr val="101C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8000" y="304800"/>
            <a:ext cx="11176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9EB7B6"/>
                </a:solidFill>
                <a:latin typeface="Carlito"/>
              </a:rPr>
              <a:t xml:space="preserve">WHERE AI EARNS A PLACE IN THE WORKFLOW  /  RECOMMENDATION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508000" y="762000"/>
            <a:ext cx="111760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3904"/>
              </a:lnSpc>
              <a:buNone/>
            </a:pPr>
            <a:r>
              <a:rPr lang="en-US" sz="3200" b="1" i="0">
                <a:solidFill>
                  <a:srgbClr val="E5F0EE"/>
                </a:solidFill>
                <a:latin typeface="Carlito"/>
              </a:rPr>
              <a:t xml:space="preserve">Recommend the bounded path</a:t>
            </a:r>
            <a:endParaRPr lang="en-US" sz="3200"/>
          </a:p>
        </p:txBody>
      </p:sp>
      <p:sp>
        <p:nvSpPr>
          <p:cNvPr id="4" name="Text 4"/>
          <p:cNvSpPr txBox="1"/>
          <p:nvPr/>
        </p:nvSpPr>
        <p:spPr>
          <a:xfrm>
            <a:off x="508000" y="2336800"/>
            <a:ext cx="11176000" cy="3657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E5F0EE"/>
                </a:solidFill>
                <a:latin typeface="Carlito"/>
              </a:rPr>
              <a:t xml:space="preserve">Pilot drafting with explicit author review and a measured stop condition.</a:t>
            </a:r>
            <a:endParaRPr lang="en-US" sz="2000"/>
          </a:p>
        </p:txBody>
      </p:sp>
      <p:sp>
        <p:nvSpPr>
          <p:cNvPr id="5" name="Shape 5"/>
          <p:cNvSpPr/>
          <p:nvPr/>
        </p:nvSpPr>
        <p:spPr>
          <a:xfrm>
            <a:off x="508000" y="6375400"/>
            <a:ext cx="11176000" cy="6350"/>
          </a:xfrm>
          <a:prstGeom prst="line">
            <a:avLst/>
          </a:prstGeom>
          <a:noFill/>
          <a:ln w="6350">
            <a:solidFill>
              <a:srgbClr val="9EB7B6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508000" y="6502400"/>
            <a:ext cx="10414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9EB7B6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11125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9EB7B6"/>
                </a:solidFill>
                <a:latin typeface="Carlito"/>
              </a:rPr>
              <a:t xml:space="preserve">05</a:t>
            </a:r>
            <a:endParaRPr lang="en-US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Risks to review before expansion">
    <p:bg>
      <p:bgPr>
        <a:solidFill>
          <a:srgbClr val="101C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8000" y="304800"/>
            <a:ext cx="11176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9EB7B6"/>
                </a:solidFill>
                <a:latin typeface="Carlito"/>
              </a:rPr>
              <a:t xml:space="preserve">WHERE AI EARNS A PLACE IN THE WORKFLOW  /  IMPLICATIONS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508000" y="762000"/>
            <a:ext cx="111760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3904"/>
              </a:lnSpc>
              <a:buNone/>
            </a:pPr>
            <a:r>
              <a:rPr lang="en-US" sz="3200" b="1" i="0">
                <a:solidFill>
                  <a:srgbClr val="E5F0EE"/>
                </a:solidFill>
                <a:latin typeface="Carlito"/>
              </a:rPr>
              <a:t xml:space="preserve">Risks to review before expansion</a:t>
            </a:r>
            <a:endParaRPr lang="en-US" sz="3200"/>
          </a:p>
        </p:txBody>
      </p:sp>
      <p:sp>
        <p:nvSpPr>
          <p:cNvPr id="4" name="Text 4"/>
          <p:cNvSpPr txBox="1"/>
          <p:nvPr/>
        </p:nvSpPr>
        <p:spPr>
          <a:xfrm>
            <a:off x="508000" y="2336800"/>
            <a:ext cx="11176000" cy="3657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E5F0EE"/>
                </a:solidFill>
                <a:latin typeface="Carlito"/>
              </a:rPr>
              <a:t xml:space="preserve">Keep the scope narrow. Check whether the new workflow adds manual effort or moves risk elsewhere. </a:t>
            </a:r>
            <a:endParaRPr lang="en-US" sz="2000"/>
          </a:p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E5F0EE"/>
                </a:solidFill>
                <a:latin typeface="Carlito"/>
              </a:rPr>
              <a:t xml:space="preserve">Record the unresolved question instead of treating an assumption as a finding.</a:t>
            </a:r>
            <a:endParaRPr lang="en-US" sz="2000"/>
          </a:p>
        </p:txBody>
      </p:sp>
      <p:sp>
        <p:nvSpPr>
          <p:cNvPr id="5" name="Shape 5"/>
          <p:cNvSpPr/>
          <p:nvPr/>
        </p:nvSpPr>
        <p:spPr>
          <a:xfrm>
            <a:off x="508000" y="6375400"/>
            <a:ext cx="11176000" cy="6350"/>
          </a:xfrm>
          <a:prstGeom prst="line">
            <a:avLst/>
          </a:prstGeom>
          <a:noFill/>
          <a:ln w="6350">
            <a:solidFill>
              <a:srgbClr val="9EB7B6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508000" y="6502400"/>
            <a:ext cx="10414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9EB7B6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11125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9EB7B6"/>
                </a:solidFill>
                <a:latin typeface="Carlito"/>
              </a:rPr>
              <a:t xml:space="preserve">06</a:t>
            </a:r>
            <a:endParaRPr lang="en-US"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Next action: approve the pilot and own the review">
    <p:bg>
      <p:bgPr>
        <a:solidFill>
          <a:srgbClr val="101C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8000" y="304800"/>
            <a:ext cx="11176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9EB7B6"/>
                </a:solidFill>
                <a:latin typeface="Carlito"/>
              </a:rPr>
              <a:t xml:space="preserve">WHERE AI EARNS A PLACE IN THE WORKFLOW  /  ACTION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508000" y="762000"/>
            <a:ext cx="111760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3904"/>
              </a:lnSpc>
              <a:buNone/>
            </a:pPr>
            <a:r>
              <a:rPr lang="en-US" sz="3200" b="1" i="0">
                <a:solidFill>
                  <a:srgbClr val="E5F0EE"/>
                </a:solidFill>
                <a:latin typeface="Carlito"/>
              </a:rPr>
              <a:t xml:space="preserve">Next action: approve the pilot and own the review</a:t>
            </a:r>
            <a:endParaRPr lang="en-US" sz="3200"/>
          </a:p>
        </p:txBody>
      </p:sp>
      <p:sp>
        <p:nvSpPr>
          <p:cNvPr id="4" name="Shape 4"/>
          <p:cNvSpPr/>
          <p:nvPr/>
        </p:nvSpPr>
        <p:spPr>
          <a:xfrm>
            <a:off x="508000" y="2336800"/>
            <a:ext cx="5473700" cy="3657600"/>
          </a:xfrm>
          <a:prstGeom prst="roundRect">
            <a:avLst/>
          </a:prstGeom>
          <a:solidFill>
            <a:srgbClr val="1A3037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711200" y="2540000"/>
            <a:ext cx="50673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1" i="0">
                <a:solidFill>
                  <a:srgbClr val="E5F0EE"/>
                </a:solidFill>
                <a:latin typeface="Carlito"/>
              </a:rPr>
              <a:t xml:space="preserve">Owner</a:t>
            </a:r>
            <a:endParaRPr lang="en-US" sz="2200"/>
          </a:p>
        </p:txBody>
      </p:sp>
      <p:sp>
        <p:nvSpPr>
          <p:cNvPr id="6" name="Text 6"/>
          <p:cNvSpPr txBox="1"/>
          <p:nvPr/>
        </p:nvSpPr>
        <p:spPr>
          <a:xfrm>
            <a:off x="711200" y="3454400"/>
            <a:ext cx="5067300" cy="233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E5F0EE"/>
                </a:solidFill>
                <a:latin typeface="Carlito"/>
              </a:rPr>
              <a:t xml:space="preserve">AI program lead owns the first milestone and its </a:t>
            </a:r>
            <a:endParaRPr lang="en-US" sz="2000"/>
          </a:p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E5F0EE"/>
                </a:solidFill>
                <a:latin typeface="Carlito"/>
              </a:rPr>
              <a:t xml:space="preserve">evidence.</a:t>
            </a:r>
            <a:endParaRPr lang="en-US" sz="2000"/>
          </a:p>
        </p:txBody>
      </p:sp>
      <p:sp>
        <p:nvSpPr>
          <p:cNvPr id="7" name="Shape 7"/>
          <p:cNvSpPr/>
          <p:nvPr/>
        </p:nvSpPr>
        <p:spPr>
          <a:xfrm>
            <a:off x="6210300" y="2336800"/>
            <a:ext cx="5473700" cy="3657600"/>
          </a:xfrm>
          <a:prstGeom prst="roundRect">
            <a:avLst/>
          </a:prstGeom>
          <a:solidFill>
            <a:srgbClr val="1A3037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6413500" y="2540000"/>
            <a:ext cx="50673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1" i="0">
                <a:solidFill>
                  <a:srgbClr val="E5F0EE"/>
                </a:solidFill>
                <a:latin typeface="Carlito"/>
              </a:rPr>
              <a:t xml:space="preserve">Review</a:t>
            </a:r>
            <a:endParaRPr lang="en-US" sz="2200"/>
          </a:p>
        </p:txBody>
      </p:sp>
      <p:sp>
        <p:nvSpPr>
          <p:cNvPr id="9" name="Text 9"/>
          <p:cNvSpPr txBox="1"/>
          <p:nvPr/>
        </p:nvSpPr>
        <p:spPr>
          <a:xfrm>
            <a:off x="6413500" y="3454400"/>
            <a:ext cx="5067300" cy="233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E5F0EE"/>
                </a:solidFill>
                <a:latin typeface="Carlito"/>
              </a:rPr>
              <a:t xml:space="preserve">Inspect the pilot evidence before approving the </a:t>
            </a:r>
            <a:endParaRPr lang="en-US" sz="2000"/>
          </a:p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E5F0EE"/>
                </a:solidFill>
                <a:latin typeface="Carlito"/>
              </a:rPr>
              <a:t xml:space="preserve">next stage.</a:t>
            </a:r>
            <a:endParaRPr lang="en-US" sz="2000"/>
          </a:p>
        </p:txBody>
      </p:sp>
      <p:sp>
        <p:nvSpPr>
          <p:cNvPr id="10" name="Shape 10"/>
          <p:cNvSpPr/>
          <p:nvPr/>
        </p:nvSpPr>
        <p:spPr>
          <a:xfrm>
            <a:off x="508000" y="6375400"/>
            <a:ext cx="11176000" cy="6350"/>
          </a:xfrm>
          <a:prstGeom prst="line">
            <a:avLst/>
          </a:prstGeom>
          <a:noFill/>
          <a:ln w="6350">
            <a:solidFill>
              <a:srgbClr val="9EB7B6"/>
            </a:solidFill>
            <a:prstDash val="solid"/>
          </a:ln>
        </p:spPr>
      </p:sp>
      <p:sp>
        <p:nvSpPr>
          <p:cNvPr id="11" name="Text 11"/>
          <p:cNvSpPr txBox="1"/>
          <p:nvPr/>
        </p:nvSpPr>
        <p:spPr>
          <a:xfrm>
            <a:off x="508000" y="6502400"/>
            <a:ext cx="10414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9EB7B6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12" name="Text 12"/>
          <p:cNvSpPr txBox="1"/>
          <p:nvPr/>
        </p:nvSpPr>
        <p:spPr>
          <a:xfrm>
            <a:off x="111125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9EB7B6"/>
                </a:solidFill>
                <a:latin typeface="Carlito"/>
              </a:rPr>
              <a:t xml:space="preserve">07</a:t>
            </a:r>
            <a:endParaRPr lang="en-US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nical">
  <a:themeElements>
    <a:clrScheme name="Storyboard">
      <a:dk1>
        <a:srgbClr val="E5F0EE"/>
      </a:dk1>
      <a:lt1>
        <a:srgbClr val="101C22"/>
      </a:lt1>
      <a:dk2>
        <a:srgbClr val="9EB7B6"/>
      </a:dk2>
      <a:lt2>
        <a:srgbClr val="1A3037"/>
      </a:lt2>
      <a:accent1>
        <a:srgbClr val="70DDB6"/>
      </a:accent1>
      <a:accent2>
        <a:srgbClr val="9EB7B6"/>
      </a:accent2>
      <a:accent3>
        <a:srgbClr val="70DDB6"/>
      </a:accent3>
      <a:accent4>
        <a:srgbClr val="E5F0EE"/>
      </a:accent4>
      <a:accent5>
        <a:srgbClr val="9EB7B6"/>
      </a:accent5>
      <a:accent6>
        <a:srgbClr val="70DDB6"/>
      </a:accent6>
      <a:hlink>
        <a:srgbClr val="70DDB6"/>
      </a:hlink>
      <a:folHlink>
        <a:srgbClr val="9EB7B6"/>
      </a:folHlink>
    </a:clrScheme>
    <a:fontScheme name="Storyboard">
      <a:majorFont>
        <a:latin typeface="Carlito"/>
        <a:ea typeface=""/>
        <a:cs typeface=""/>
      </a:majorFont>
      <a:minorFont>
        <a:latin typeface="Carlito"/>
        <a:ea typeface=""/>
        <a:cs typeface=""/>
      </a:minorFont>
    </a:fontScheme>
    <a:fmtScheme name="Storyboard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Storyboard Studio Rust</Application>
  <PresentationFormat>Widescreen</PresentationFormat>
  <Slides>7</Slides>
  <Notes>7</Notes>
  <AppVersion>03.0000</AppVersion>
</Properties>
</file>

<file path=docProps/core.xml><?xml version="1.0" encoding="utf-8"?>
<cp:coreProperties xmlns:cp="http://schemas.openxmlformats.org/package/2006/metadata/core-properties" xmlns:dc="http://purl.org/dc/elements/1.1/">
  <dc:title>Where AI earns a place in the workflow</dc:title>
  <dc:creator/>
  <dc:description/>
  <cp:keyword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torySHA256">
    <vt:lpwstr>c821920ccf72b972984ce7a6770a61bad6e8e27824b6c1c86b942a9c74670a16</vt:lpwstr>
  </property>
</Properties>
</file>