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xlsx" ContentType="application/vnd.openxmlformats-officedocument.spreadsheetml.sheet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 type="screen16x9"/>
  <p:notesSz cx="6858000" cy="9144000"/>
  <p:defaultTextStyle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notesStyle/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92C3D"/>
                </a:solidFill>
                <a:latin typeface="Carlito"/>
              </a:rPr>
              <a:t xml:space="preserve">Synthetic scenario. Figures, roles and organizations are invented to demonstrate the renderer.
</a:t>
            </a:r>
            <a:endParaRPr lang="en-US" sz="12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92C3D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92C3D"/>
                </a:solidFill>
                <a:latin typeface="Carlito"/>
              </a:rPr>
              <a:t xml:space="preserve">
Source: Synthetic gallery input · Authored fixture · No real customer, market or investment results are claimed. · author-confirmed: false</a:t>
            </a:r>
            <a:endParaRPr lang="en-US" sz="12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92C3D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92C3D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92C3D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/>
          <p:nvPr>
            <p:ph type="body" idx="1"/>
          </p:nvPr>
        </p:nvSpPr>
        <p:spPr/>
        <p:txBody>
          <a:bodyPr/>
          <a:lstStyle/>
          <a:p>
            <a:pPr>
              <a:lnSpc>
                <a:spcPts val="1464"/>
              </a:lnSpc>
              <a:buNone/>
            </a:pPr>
            <a:r>
              <a:rPr lang="en-US" sz="1200" b="0" i="0">
                <a:solidFill>
                  <a:srgbClr val="192C3D"/>
                </a:solidFill>
                <a:latin typeface="Carlito"/>
              </a:rPr>
              <a:t xml:space="preserve"/>
            </a:r>
            <a:endParaRPr lang="en-US" sz="1200"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context for product launch">
    <p:bg>
      <p:bgPr>
        <a:solidFill>
          <a:srgbClr val="F0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26778"/>
                </a:solidFill>
                <a:latin typeface="Carlito"/>
              </a:rPr>
              <a:t xml:space="preserve">A LAUNCH THAT EARNS THE NEXT RELEASE  /  CONTEXT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192C3D"/>
                </a:solidFill>
                <a:latin typeface="Carlito"/>
              </a:rPr>
              <a:t xml:space="preserve">The context for product launch</a:t>
            </a:r>
            <a:endParaRPr lang="en-US" sz="42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192C3D"/>
                </a:solidFill>
                <a:latin typeface="Carlito"/>
              </a:rPr>
              <a:t xml:space="preserve">This fictional team needs a decision it can explain, execute, and revisit. Distribution is scheduled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192C3D"/>
                </a:solidFill>
                <a:latin typeface="Carlito"/>
              </a:rPr>
              <a:t xml:space="preserve">before onboarding and support are ready.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26778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26778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26778"/>
                </a:solidFill>
                <a:latin typeface="Carlito"/>
              </a:rPr>
              <a:t xml:space="preserve">01</a:t>
            </a:r>
            <a:endParaRPr 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he problem is the missing decision boundary">
    <p:bg>
      <p:bgPr>
        <a:solidFill>
          <a:srgbClr val="F0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26778"/>
                </a:solidFill>
                <a:latin typeface="Carlito"/>
              </a:rPr>
              <a:t xml:space="preserve">A LAUNCH THAT EARNS THE NEXT RELEASE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192C3D"/>
                </a:solidFill>
                <a:latin typeface="Carlito"/>
              </a:rPr>
              <a:t xml:space="preserve">The problem is the missing decision boundary</a:t>
            </a:r>
            <a:endParaRPr lang="en-US" sz="42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192C3D"/>
                </a:solidFill>
                <a:latin typeface="Carlito"/>
              </a:rPr>
              <a:t xml:space="preserve">Distribution is scheduled before onboarding and support are ready.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26778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26778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26778"/>
                </a:solidFill>
                <a:latin typeface="Carlito"/>
              </a:rPr>
              <a:t xml:space="preserve">02</a:t>
            </a:r>
            <a:endParaRPr 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Evidence to gather before committing">
    <p:bg>
      <p:bgPr>
        <a:solidFill>
          <a:srgbClr val="F0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26778"/>
                </a:solidFill>
                <a:latin typeface="Carlito"/>
              </a:rPr>
              <a:t xml:space="preserve">A LAUNCH THAT EARNS THE NEXT RELEASE  /  EVIDENCE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192C3D"/>
                </a:solidFill>
                <a:latin typeface="Carlito"/>
              </a:rPr>
              <a:t xml:space="preserve">Evidence to gather before committing</a:t>
            </a:r>
            <a:endParaRPr lang="en-US" sz="4200"/>
          </a:p>
        </p:txBody>
      </p:sp>
      <p:graphicFrame>
        <p:nvGraphicFramePr>
          <p:cNvPr id="4" name="Table 4" descr="Synthetic review checkpoints and source responsibilities."/>
          <p:cNvGraphicFramePr/>
          <p:nvPr/>
        </p:nvGraphicFramePr>
        <p:xfrm>
          <a:off x="609600" y="2336800"/>
          <a:ext cx="10972800" cy="3556000"/>
        </p:xfrm>
        <a:graphic>
          <a:graphicData uri="http://schemas.openxmlformats.org/drawingml/2006/table">
            <a:tbl>
              <a:tblPr firstRow="1" bandRow="1"/>
              <a:tblGrid>
                <a:gridCol w="3657600"/>
                <a:gridCol w="3657600"/>
                <a:gridCol w="3657600"/>
              </a:tblGrid>
              <a:tr h="8890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1" i="0">
                          <a:solidFill>
                            <a:srgbClr val="192C3D"/>
                          </a:solidFill>
                          <a:latin typeface="Carlito"/>
                        </a:rPr>
                        <a:t xml:space="preserve">Checkpoint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DFE8ED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1" i="0">
                          <a:solidFill>
                            <a:srgbClr val="192C3D"/>
                          </a:solidFill>
                          <a:latin typeface="Carlito"/>
                        </a:rPr>
                        <a:t xml:space="preserve">Owner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DFE8ED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1" i="0">
                          <a:solidFill>
                            <a:srgbClr val="192C3D"/>
                          </a:solidFill>
                          <a:latin typeface="Carlito"/>
                        </a:rPr>
                        <a:t xml:space="preserve">Evidence to inspect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DFE8ED"/>
                    </a:solidFill>
                  </a:tcPr>
                </a:tc>
              </a:tr>
              <a:tr h="8890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192C3D"/>
                          </a:solidFill>
                          <a:latin typeface="Carlito"/>
                        </a:rPr>
                        <a:t xml:space="preserve">Baseline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0F4F6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192C3D"/>
                          </a:solidFill>
                          <a:latin typeface="Carlito"/>
                        </a:rPr>
                        <a:t xml:space="preserve">Launch owner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0F4F6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192C3D"/>
                          </a:solidFill>
                          <a:latin typeface="Carlito"/>
                        </a:rPr>
                        <a:t xml:space="preserve">Current workflow notes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0F4F6"/>
                    </a:solidFill>
                  </a:tcPr>
                </a:tc>
              </a:tr>
              <a:tr h="8890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192C3D"/>
                          </a:solidFill>
                          <a:latin typeface="Carlito"/>
                        </a:rPr>
                        <a:t xml:space="preserve">Pilot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0F4F6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192C3D"/>
                          </a:solidFill>
                          <a:latin typeface="Carlito"/>
                        </a:rPr>
                        <a:t xml:space="preserve">Launch owner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0F4F6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192C3D"/>
                          </a:solidFill>
                          <a:latin typeface="Carlito"/>
                        </a:rPr>
                        <a:t xml:space="preserve">Observed handoff or task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0F4F6"/>
                    </a:solidFill>
                  </a:tcPr>
                </a:tc>
              </a:tr>
              <a:tr h="889000"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192C3D"/>
                          </a:solidFill>
                          <a:latin typeface="Carlito"/>
                        </a:rPr>
                        <a:t xml:space="preserve">Review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0F4F6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192C3D"/>
                          </a:solidFill>
                          <a:latin typeface="Carlito"/>
                        </a:rPr>
                        <a:t xml:space="preserve">Decision sponsor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0F4F6"/>
                    </a:solidFill>
                  </a:tcPr>
                </a:tc>
                <a:tc>
                  <a:txBody>
                    <a:bodyPr wrap="none" lIns="0" tIns="0" rIns="0" bIns="0"/>
                    <a:lstStyle/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192C3D"/>
                          </a:solidFill>
                          <a:latin typeface="Carlito"/>
                        </a:rPr>
                        <a:t xml:space="preserve">Bounded continuation </a:t>
                      </a:r>
                      <a:endParaRPr lang="en-US" sz="2200"/>
                    </a:p>
                    <a:p>
                      <a:pPr>
                        <a:lnSpc>
                          <a:spcPts val="2684"/>
                        </a:lnSpc>
                        <a:buNone/>
                      </a:pPr>
                      <a:r>
                        <a:rPr lang="en-US" sz="2200" b="0" i="0">
                          <a:solidFill>
                            <a:srgbClr val="192C3D"/>
                          </a:solidFill>
                          <a:latin typeface="Carlito"/>
                        </a:rPr>
                        <a:t xml:space="preserve">decision</a:t>
                      </a:r>
                      <a:endParaRPr lang="en-US" sz="2200"/>
                    </a:p>
                  </a:txBody>
                  <a:tcPr marL="101600" marR="101600" marT="76200" marB="7620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26778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26778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26778"/>
                </a:solidFill>
                <a:latin typeface="Carlito"/>
              </a:rPr>
              <a:t xml:space="preserve">03</a:t>
            </a:r>
            <a:endParaRPr lang="en-US"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wo paths make the trade-off explicit">
    <p:bg>
      <p:bgPr>
        <a:solidFill>
          <a:srgbClr val="F0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26778"/>
                </a:solidFill>
                <a:latin typeface="Carlito"/>
              </a:rPr>
              <a:t xml:space="preserve">A LAUNCH THAT EARNS THE NEXT RELEASE  /  OPTIONS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192C3D"/>
                </a:solidFill>
                <a:latin typeface="Carlito"/>
              </a:rPr>
              <a:t xml:space="preserve">Two paths make the trade-off explicit</a:t>
            </a:r>
            <a:endParaRPr lang="en-US" sz="4200"/>
          </a:p>
        </p:txBody>
      </p:sp>
      <p:sp>
        <p:nvSpPr>
          <p:cNvPr id="4" name="Shape 4"/>
          <p:cNvSpPr/>
          <p:nvPr/>
        </p:nvSpPr>
        <p:spPr>
          <a:xfrm>
            <a:off x="609600" y="2336800"/>
            <a:ext cx="5372100" cy="3556000"/>
          </a:xfrm>
          <a:prstGeom prst="roundRect">
            <a:avLst/>
          </a:prstGeom>
          <a:solidFill>
            <a:srgbClr val="DFE8ED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128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192C3D"/>
                </a:solidFill>
                <a:latin typeface="Carlito"/>
              </a:rPr>
              <a:t xml:space="preserve">Launch broadly now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8128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192C3D"/>
                </a:solidFill>
                <a:latin typeface="Carlito"/>
              </a:rPr>
              <a:t xml:space="preserve">Faster to start, with the current operating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192C3D"/>
                </a:solidFill>
                <a:latin typeface="Carlito"/>
              </a:rPr>
              <a:t xml:space="preserve">limitations.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72100" cy="3556000"/>
          </a:xfrm>
          <a:prstGeom prst="roundRect">
            <a:avLst/>
          </a:prstGeom>
          <a:solidFill>
            <a:srgbClr val="DFE8ED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192C3D"/>
                </a:solidFill>
                <a:latin typeface="Carlito"/>
              </a:rPr>
              <a:t xml:space="preserve">Release to a bounded pilot cohort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192C3D"/>
                </a:solidFill>
                <a:latin typeface="Carlito"/>
              </a:rPr>
              <a:t xml:space="preserve">More focused initial work, with a clearer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192C3D"/>
                </a:solidFill>
                <a:latin typeface="Carlito"/>
              </a:rPr>
              <a:t xml:space="preserve">review boundary.</a:t>
            </a:r>
            <a:endParaRPr lang="en-US" sz="2200"/>
          </a:p>
        </p:txBody>
      </p:sp>
      <p:sp>
        <p:nvSpPr>
          <p:cNvPr id="10" name="Shape 10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26778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26778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26778"/>
                </a:solidFill>
                <a:latin typeface="Carlito"/>
              </a:rPr>
              <a:t xml:space="preserve">04</a:t>
            </a:r>
            <a:endParaRPr lang="en-US" sz="1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ecommend the bounded path">
    <p:bg>
      <p:bgPr>
        <a:solidFill>
          <a:srgbClr val="F0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26778"/>
                </a:solidFill>
                <a:latin typeface="Carlito"/>
              </a:rPr>
              <a:t xml:space="preserve">A LAUNCH THAT EARNS THE NEXT RELEASE  /  RECOMMENDATION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192C3D"/>
                </a:solidFill>
                <a:latin typeface="Carlito"/>
              </a:rPr>
              <a:t xml:space="preserve">Recommend the bounded path</a:t>
            </a:r>
            <a:endParaRPr lang="en-US" sz="42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192C3D"/>
                </a:solidFill>
                <a:latin typeface="Carlito"/>
              </a:rPr>
              <a:t xml:space="preserve">Open the pilot after onboarding and escalation paths are exercised.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26778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26778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26778"/>
                </a:solidFill>
                <a:latin typeface="Carlito"/>
              </a:rPr>
              <a:t xml:space="preserve">05</a:t>
            </a:r>
            <a:endParaRPr lang="en-US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Risks to review before expansion">
    <p:bg>
      <p:bgPr>
        <a:solidFill>
          <a:srgbClr val="F0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26778"/>
                </a:solidFill>
                <a:latin typeface="Carlito"/>
              </a:rPr>
              <a:t xml:space="preserve">A LAUNCH THAT EARNS THE NEXT RELEASE  /  IMPLICATIONS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124"/>
              </a:lnSpc>
              <a:buNone/>
            </a:pPr>
            <a:r>
              <a:rPr lang="en-US" sz="4200" b="1" i="0">
                <a:solidFill>
                  <a:srgbClr val="192C3D"/>
                </a:solidFill>
                <a:latin typeface="Carlito"/>
              </a:rPr>
              <a:t xml:space="preserve">Risks to review before expansion</a:t>
            </a:r>
            <a:endParaRPr lang="en-US" sz="4200"/>
          </a:p>
        </p:txBody>
      </p:sp>
      <p:sp>
        <p:nvSpPr>
          <p:cNvPr id="4" name="Text 4"/>
          <p:cNvSpPr txBox="1"/>
          <p:nvPr/>
        </p:nvSpPr>
        <p:spPr>
          <a:xfrm>
            <a:off x="609600" y="2336800"/>
            <a:ext cx="10972800" cy="355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192C3D"/>
                </a:solidFill>
                <a:latin typeface="Carlito"/>
              </a:rPr>
              <a:t xml:space="preserve">Keep the scope narrow. Check whether the new workflow adds manual effort or moves risk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192C3D"/>
                </a:solidFill>
                <a:latin typeface="Carlito"/>
              </a:rPr>
              <a:t xml:space="preserve">elsewhere. Record the unresolved question instead of treating an assumption as a finding.</a:t>
            </a:r>
            <a:endParaRPr lang="en-US" sz="2200"/>
          </a:p>
        </p:txBody>
      </p:sp>
      <p:sp>
        <p:nvSpPr>
          <p:cNvPr id="5" name="Shape 5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26778"/>
            </a:solidFill>
            <a:prstDash val="solid"/>
          </a:ln>
        </p:spPr>
      </p:sp>
      <p:sp>
        <p:nvSpPr>
          <p:cNvPr id="6" name="Text 6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26778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7" name="Text 7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26778"/>
                </a:solidFill>
                <a:latin typeface="Carlito"/>
              </a:rPr>
              <a:t xml:space="preserve">06</a:t>
            </a:r>
            <a:endParaRPr lang="en-US" sz="1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xt action: approve the pilot and own the review">
    <p:bg>
      <p:bgPr>
        <a:solidFill>
          <a:srgbClr val="F0F4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304800"/>
            <a:ext cx="109728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342"/>
              </a:lnSpc>
              <a:buNone/>
            </a:pPr>
            <a:r>
              <a:rPr lang="en-US" sz="1100" b="0" i="0">
                <a:solidFill>
                  <a:srgbClr val="526778"/>
                </a:solidFill>
                <a:latin typeface="Carlito"/>
              </a:rPr>
              <a:t xml:space="preserve">A LAUNCH THAT EARNS THE NEXT RELEASE  /  ACTION</a:t>
            </a:r>
            <a:endParaRPr lang="en-US" sz="1100"/>
          </a:p>
        </p:txBody>
      </p:sp>
      <p:sp>
        <p:nvSpPr>
          <p:cNvPr id="3" name="Text 3"/>
          <p:cNvSpPr txBox="1"/>
          <p:nvPr/>
        </p:nvSpPr>
        <p:spPr>
          <a:xfrm>
            <a:off x="609600" y="762000"/>
            <a:ext cx="10972800" cy="1295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5002"/>
              </a:lnSpc>
              <a:buNone/>
            </a:pPr>
            <a:r>
              <a:rPr lang="en-US" sz="4100" b="1" i="0">
                <a:solidFill>
                  <a:srgbClr val="192C3D"/>
                </a:solidFill>
                <a:latin typeface="Carlito"/>
              </a:rPr>
              <a:t xml:space="preserve">Next action: approve the pilot and own the review</a:t>
            </a:r>
            <a:endParaRPr lang="en-US" sz="4100"/>
          </a:p>
        </p:txBody>
      </p:sp>
      <p:sp>
        <p:nvSpPr>
          <p:cNvPr id="4" name="Shape 4"/>
          <p:cNvSpPr/>
          <p:nvPr/>
        </p:nvSpPr>
        <p:spPr>
          <a:xfrm>
            <a:off x="609600" y="2336800"/>
            <a:ext cx="5372100" cy="3556000"/>
          </a:xfrm>
          <a:prstGeom prst="roundRect">
            <a:avLst/>
          </a:prstGeom>
          <a:solidFill>
            <a:srgbClr val="DFE8ED"/>
          </a:solidFill>
          <a:ln>
            <a:noFill/>
          </a:ln>
        </p:spPr>
      </p:sp>
      <p:sp>
        <p:nvSpPr>
          <p:cNvPr id="5" name="Text 5"/>
          <p:cNvSpPr txBox="1"/>
          <p:nvPr/>
        </p:nvSpPr>
        <p:spPr>
          <a:xfrm>
            <a:off x="8128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192C3D"/>
                </a:solidFill>
                <a:latin typeface="Carlito"/>
              </a:rPr>
              <a:t xml:space="preserve">Owner</a:t>
            </a:r>
            <a:endParaRPr lang="en-US" sz="2400"/>
          </a:p>
        </p:txBody>
      </p:sp>
      <p:sp>
        <p:nvSpPr>
          <p:cNvPr id="6" name="Text 6"/>
          <p:cNvSpPr txBox="1"/>
          <p:nvPr/>
        </p:nvSpPr>
        <p:spPr>
          <a:xfrm>
            <a:off x="8128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192C3D"/>
                </a:solidFill>
                <a:latin typeface="Carlito"/>
              </a:rPr>
              <a:t xml:space="preserve">Launch owner owns the first milestone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192C3D"/>
                </a:solidFill>
                <a:latin typeface="Carlito"/>
              </a:rPr>
              <a:t xml:space="preserve">and its evidence.</a:t>
            </a:r>
            <a:endParaRPr lang="en-US" sz="2200"/>
          </a:p>
        </p:txBody>
      </p:sp>
      <p:sp>
        <p:nvSpPr>
          <p:cNvPr id="7" name="Shape 7"/>
          <p:cNvSpPr/>
          <p:nvPr/>
        </p:nvSpPr>
        <p:spPr>
          <a:xfrm>
            <a:off x="6210300" y="2336800"/>
            <a:ext cx="5372100" cy="3556000"/>
          </a:xfrm>
          <a:prstGeom prst="roundRect">
            <a:avLst/>
          </a:prstGeom>
          <a:solidFill>
            <a:srgbClr val="DFE8ED"/>
          </a:solidFill>
          <a:ln>
            <a:noFill/>
          </a:ln>
        </p:spPr>
      </p:sp>
      <p:sp>
        <p:nvSpPr>
          <p:cNvPr id="8" name="Text 8"/>
          <p:cNvSpPr txBox="1"/>
          <p:nvPr/>
        </p:nvSpPr>
        <p:spPr>
          <a:xfrm>
            <a:off x="6413500" y="2540000"/>
            <a:ext cx="4965700" cy="812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928"/>
              </a:lnSpc>
              <a:buNone/>
            </a:pPr>
            <a:r>
              <a:rPr lang="en-US" sz="2400" b="1" i="0">
                <a:solidFill>
                  <a:srgbClr val="192C3D"/>
                </a:solidFill>
                <a:latin typeface="Carlito"/>
              </a:rPr>
              <a:t xml:space="preserve">Review</a:t>
            </a:r>
            <a:endParaRPr lang="en-US" sz="2400"/>
          </a:p>
        </p:txBody>
      </p:sp>
      <p:sp>
        <p:nvSpPr>
          <p:cNvPr id="9" name="Text 9"/>
          <p:cNvSpPr txBox="1"/>
          <p:nvPr/>
        </p:nvSpPr>
        <p:spPr>
          <a:xfrm>
            <a:off x="6413500" y="3454400"/>
            <a:ext cx="4965700" cy="2235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192C3D"/>
                </a:solidFill>
                <a:latin typeface="Carlito"/>
              </a:rPr>
              <a:t xml:space="preserve">Inspect the pilot evidence before </a:t>
            </a:r>
            <a:endParaRPr lang="en-US" sz="2200"/>
          </a:p>
          <a:p>
            <a:pPr>
              <a:lnSpc>
                <a:spcPts val="2684"/>
              </a:lnSpc>
              <a:buNone/>
            </a:pPr>
            <a:r>
              <a:rPr lang="en-US" sz="2200" b="0" i="0">
                <a:solidFill>
                  <a:srgbClr val="192C3D"/>
                </a:solidFill>
                <a:latin typeface="Carlito"/>
              </a:rPr>
              <a:t xml:space="preserve">approving the next stage.</a:t>
            </a:r>
            <a:endParaRPr lang="en-US" sz="2200"/>
          </a:p>
        </p:txBody>
      </p:sp>
      <p:sp>
        <p:nvSpPr>
          <p:cNvPr id="10" name="Shape 10"/>
          <p:cNvSpPr/>
          <p:nvPr/>
        </p:nvSpPr>
        <p:spPr>
          <a:xfrm>
            <a:off x="609600" y="6375400"/>
            <a:ext cx="10972800" cy="6350"/>
          </a:xfrm>
          <a:prstGeom prst="line">
            <a:avLst/>
          </a:prstGeom>
          <a:noFill/>
          <a:ln w="6350">
            <a:solidFill>
              <a:srgbClr val="526778"/>
            </a:solidFill>
            <a:prstDash val="solid"/>
          </a:ln>
        </p:spPr>
      </p:sp>
      <p:sp>
        <p:nvSpPr>
          <p:cNvPr id="11" name="Text 11"/>
          <p:cNvSpPr txBox="1"/>
          <p:nvPr/>
        </p:nvSpPr>
        <p:spPr>
          <a:xfrm>
            <a:off x="609600" y="6502400"/>
            <a:ext cx="102108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26778"/>
                </a:solidFill>
                <a:latin typeface="Carlito"/>
              </a:rPr>
              <a:t xml:space="preserve">SYNTHETIC EXAMPLE  ·  STORYBOARD STUDIO</a:t>
            </a:r>
            <a:endParaRPr lang="en-US" sz="1000"/>
          </a:p>
        </p:txBody>
      </p:sp>
      <p:sp>
        <p:nvSpPr>
          <p:cNvPr id="12" name="Text 12"/>
          <p:cNvSpPr txBox="1"/>
          <p:nvPr/>
        </p:nvSpPr>
        <p:spPr>
          <a:xfrm>
            <a:off x="11010900" y="6502400"/>
            <a:ext cx="5715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>
            <a:noAutofit/>
          </a:bodyPr>
          <a:lstStyle/>
          <a:p>
            <a:pPr>
              <a:lnSpc>
                <a:spcPts val="1220"/>
              </a:lnSpc>
              <a:buNone/>
            </a:pPr>
            <a:r>
              <a:rPr lang="en-US" sz="1000" b="0" i="0">
                <a:solidFill>
                  <a:srgbClr val="526778"/>
                </a:solidFill>
                <a:latin typeface="Carlito"/>
              </a:rPr>
              <a:t xml:space="preserve">07</a:t>
            </a:r>
            <a:endParaRPr lang="en-US" sz="1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dern">
  <a:themeElements>
    <a:clrScheme name="Storyboard">
      <a:dk1>
        <a:srgbClr val="192C3D"/>
      </a:dk1>
      <a:lt1>
        <a:srgbClr val="F0F4F6"/>
      </a:lt1>
      <a:dk2>
        <a:srgbClr val="526778"/>
      </a:dk2>
      <a:lt2>
        <a:srgbClr val="DFE8ED"/>
      </a:lt2>
      <a:accent1>
        <a:srgbClr val="226D88"/>
      </a:accent1>
      <a:accent2>
        <a:srgbClr val="526778"/>
      </a:accent2>
      <a:accent3>
        <a:srgbClr val="226D88"/>
      </a:accent3>
      <a:accent4>
        <a:srgbClr val="192C3D"/>
      </a:accent4>
      <a:accent5>
        <a:srgbClr val="526778"/>
      </a:accent5>
      <a:accent6>
        <a:srgbClr val="226D88"/>
      </a:accent6>
      <a:hlink>
        <a:srgbClr val="226D88"/>
      </a:hlink>
      <a:folHlink>
        <a:srgbClr val="526778"/>
      </a:folHlink>
    </a:clrScheme>
    <a:fontScheme name="Storyboard">
      <a:majorFont>
        <a:latin typeface="Carlito"/>
        <a:ea typeface=""/>
        <a:cs typeface=""/>
      </a:majorFont>
      <a:minorFont>
        <a:latin typeface="Carlito"/>
        <a:ea typeface=""/>
        <a:cs typeface=""/>
      </a:minorFont>
    </a:fontScheme>
    <a:fmtScheme name="Storyboar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Storyboard Studio Rust</Application>
  <PresentationFormat>Widescreen</PresentationFormat>
  <Slides>7</Slides>
  <Notes>7</Notes>
  <AppVersion>03.0000</AppVersion>
</Properties>
</file>

<file path=docProps/core.xml><?xml version="1.0" encoding="utf-8"?>
<cp:coreProperties xmlns:cp="http://schemas.openxmlformats.org/package/2006/metadata/core-properties" xmlns:dc="http://purl.org/dc/elements/1.1/">
  <dc:title>A launch that earns the next release</dc:title>
  <dc:creator/>
  <dc:description/>
  <cp:keyword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torySHA256">
    <vt:lpwstr>a0a0157d93300f6fb30da9070150aace7bb1899ea65548b71cb3600a413213a6</vt:lpwstr>
  </property>
</Properties>
</file>