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F5F2DE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F5F2D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F5F2DE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F5F2D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F5F2D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F5F2DE"/>
                </a:solidFill>
                <a:latin typeface="Carlito"/>
              </a:rPr>
              <a:t xml:space="preserve">Synthetic authored principle.</a:t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F5F2D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F5F2D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strategy planning">
    <p:bg>
      <p:bgPr>
        <a:solidFill>
          <a:srgbClr val="0D2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B6C3AF"/>
                </a:solidFill>
                <a:latin typeface="Carlito"/>
              </a:rPr>
              <a:t xml:space="preserve">CHOOSE WHERE THE COMPANY WILL SAY NO  /  CONTEXT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F5F2DE"/>
                </a:solidFill>
                <a:latin typeface="Carlito"/>
              </a:rPr>
              <a:t xml:space="preserve">The context for strategy planning</a:t>
            </a:r>
            <a:endParaRPr lang="en-US" sz="42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350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This fictional team needs a decision it can explain, execute, and revisit. Every growth idea is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treated as a priority and capacity is not visible.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B6C3AF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0D2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B6C3AF"/>
                </a:solidFill>
                <a:latin typeface="Carlito"/>
              </a:rPr>
              <a:t xml:space="preserve">CHOOSE WHERE THE COMPANY WILL SAY NO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F5F2DE"/>
                </a:solidFill>
                <a:latin typeface="Carlito"/>
              </a:rPr>
              <a:t xml:space="preserve">The problem is the missing decision boundary</a:t>
            </a:r>
            <a:endParaRPr lang="en-US" sz="42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350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Every growth idea is treated as a priority and capacity is not visible.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B6C3AF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0D2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B6C3AF"/>
                </a:solidFill>
                <a:latin typeface="Carlito"/>
              </a:rPr>
              <a:t xml:space="preserve">CHOOSE WHERE THE COMPANY WILL SAY NO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F5F2DE"/>
                </a:solidFill>
                <a:latin typeface="Carlito"/>
              </a:rPr>
              <a:t xml:space="preserve">Evidence to gather before committing</a:t>
            </a:r>
            <a:endParaRPr lang="en-US" sz="4200"/>
          </a:p>
        </p:txBody>
      </p:sp>
      <p:graphicFrame>
        <p:nvGraphicFramePr>
          <p:cNvPr id="4" name="Table 4" descr="Synthetic review checkpoints and source responsibilities."/>
          <p:cNvGraphicFramePr/>
          <p:nvPr/>
        </p:nvGraphicFramePr>
        <p:xfrm>
          <a:off x="660400" y="2336800"/>
          <a:ext cx="10871200" cy="3505200"/>
        </p:xfrm>
        <a:graphic>
          <a:graphicData uri="http://schemas.openxmlformats.org/drawingml/2006/table">
            <a:tbl>
              <a:tblPr firstRow="1" bandRow="1"/>
              <a:tblGrid>
                <a:gridCol w="3623733"/>
                <a:gridCol w="3623733"/>
                <a:gridCol w="3623733"/>
              </a:tblGrid>
              <a:tr h="8763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1" i="0">
                          <a:solidFill>
                            <a:srgbClr val="F5F2DE"/>
                          </a:solidFill>
                          <a:latin typeface="Carlito"/>
                        </a:rPr>
                        <a:t xml:space="preserve">Checkpoint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1A3938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1" i="0">
                          <a:solidFill>
                            <a:srgbClr val="F5F2DE"/>
                          </a:solidFill>
                          <a:latin typeface="Carlito"/>
                        </a:rPr>
                        <a:t xml:space="preserve">Owner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1A3938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1" i="0">
                          <a:solidFill>
                            <a:srgbClr val="F5F2DE"/>
                          </a:solidFill>
                          <a:latin typeface="Carlito"/>
                        </a:rPr>
                        <a:t xml:space="preserve">Evidence to inspect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1A3938"/>
                    </a:solidFill>
                  </a:tcPr>
                </a:tc>
              </a:tr>
              <a:tr h="8763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F5F2DE"/>
                          </a:solidFill>
                          <a:latin typeface="Carlito"/>
                        </a:rPr>
                        <a:t xml:space="preserve">Baseline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0D2425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F5F2DE"/>
                          </a:solidFill>
                          <a:latin typeface="Carlito"/>
                        </a:rPr>
                        <a:t xml:space="preserve">Strategy owner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0D2425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F5F2DE"/>
                          </a:solidFill>
                          <a:latin typeface="Carlito"/>
                        </a:rPr>
                        <a:t xml:space="preserve">Current workflow notes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0D2425"/>
                    </a:solidFill>
                  </a:tcPr>
                </a:tc>
              </a:tr>
              <a:tr h="8763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F5F2DE"/>
                          </a:solidFill>
                          <a:latin typeface="Carlito"/>
                        </a:rPr>
                        <a:t xml:space="preserve">Pilot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0D2425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F5F2DE"/>
                          </a:solidFill>
                          <a:latin typeface="Carlito"/>
                        </a:rPr>
                        <a:t xml:space="preserve">Strategy owner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0D2425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F5F2DE"/>
                          </a:solidFill>
                          <a:latin typeface="Carlito"/>
                        </a:rPr>
                        <a:t xml:space="preserve">Observed handoff or task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0D2425"/>
                    </a:solidFill>
                  </a:tcPr>
                </a:tc>
              </a:tr>
              <a:tr h="8763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F5F2DE"/>
                          </a:solidFill>
                          <a:latin typeface="Carlito"/>
                        </a:rPr>
                        <a:t xml:space="preserve">Review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0D2425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F5F2DE"/>
                          </a:solidFill>
                          <a:latin typeface="Carlito"/>
                        </a:rPr>
                        <a:t xml:space="preserve">Decision sponsor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0D2425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F5F2DE"/>
                          </a:solidFill>
                          <a:latin typeface="Carlito"/>
                        </a:rPr>
                        <a:t xml:space="preserve">Bounded continuation </a:t>
                      </a:r>
                      <a:endParaRPr lang="en-US" sz="2200"/>
                    </a:p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F5F2DE"/>
                          </a:solidFill>
                          <a:latin typeface="Carlito"/>
                        </a:rPr>
                        <a:t xml:space="preserve">decision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0D2425"/>
                    </a:solidFill>
                  </a:tcPr>
                </a:tc>
              </a:tr>
            </a:tbl>
          </a:graphicData>
        </a:graphic>
      </p:graphicFrame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B6C3AF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0D2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B6C3AF"/>
                </a:solidFill>
                <a:latin typeface="Carlito"/>
              </a:rPr>
              <a:t xml:space="preserve">CHOOSE WHERE THE COMPANY WILL SAY NO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F5F2DE"/>
                </a:solidFill>
                <a:latin typeface="Carlito"/>
              </a:rPr>
              <a:t xml:space="preserve">Two paths make the trade-off explicit</a:t>
            </a:r>
            <a:endParaRPr lang="en-US" sz="4200"/>
          </a:p>
        </p:txBody>
      </p:sp>
      <p:sp>
        <p:nvSpPr>
          <p:cNvPr id="4" name="Shape 4"/>
          <p:cNvSpPr/>
          <p:nvPr/>
        </p:nvSpPr>
        <p:spPr>
          <a:xfrm>
            <a:off x="660400" y="2336800"/>
            <a:ext cx="5321300" cy="3505200"/>
          </a:xfrm>
          <a:prstGeom prst="roundRect">
            <a:avLst/>
          </a:prstGeom>
          <a:solidFill>
            <a:srgbClr val="1A393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63600" y="2540000"/>
            <a:ext cx="49149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F5F2DE"/>
                </a:solidFill>
                <a:latin typeface="Carlito"/>
              </a:rPr>
              <a:t xml:space="preserve">Pursue all adjacent markets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863600" y="3454400"/>
            <a:ext cx="4914900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Faster to start, with the current operating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limitations.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21300" cy="3505200"/>
          </a:xfrm>
          <a:prstGeom prst="roundRect">
            <a:avLst/>
          </a:prstGeom>
          <a:solidFill>
            <a:srgbClr val="1A3938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149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F5F2DE"/>
                </a:solidFill>
                <a:latin typeface="Carlito"/>
              </a:rPr>
              <a:t xml:space="preserve">Defend one core workflow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14900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More focused initial work, with a clearer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review boundary.</a:t>
            </a:r>
            <a:endParaRPr lang="en-US" sz="2200"/>
          </a:p>
        </p:txBody>
      </p:sp>
      <p:sp>
        <p:nvSpPr>
          <p:cNvPr id="10" name="Shape 10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B6C3AF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0D2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B6C3AF"/>
                </a:solidFill>
                <a:latin typeface="Carlito"/>
              </a:rPr>
              <a:t xml:space="preserve">CHOOSE WHERE THE COMPANY WILL SAY NO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F5F2DE"/>
                </a:solidFill>
                <a:latin typeface="Carlito"/>
              </a:rPr>
              <a:t xml:space="preserve">Recommend the bounded path</a:t>
            </a:r>
            <a:endParaRPr lang="en-US" sz="42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350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Choose one core workflow and publish the work that will stop.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B6C3AF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Keep the reasoning inspectable">
    <p:bg>
      <p:bgPr>
        <a:solidFill>
          <a:srgbClr val="0D2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B6C3AF"/>
                </a:solidFill>
                <a:latin typeface="Carlito"/>
              </a:rPr>
              <a:t xml:space="preserve">CHOOSE WHERE THE COMPANY WILL SAY NO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F5F2DE"/>
                </a:solidFill>
                <a:latin typeface="Carlito"/>
              </a:rPr>
              <a:t xml:space="preserve">Keep the reasoning inspectable</a:t>
            </a:r>
            <a:endParaRPr lang="en-US" sz="42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289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355"/>
              </a:lnSpc>
              <a:buNone/>
            </a:pPr>
            <a:r>
              <a:rPr lang="en-US" sz="3570" b="0" i="0">
                <a:solidFill>
                  <a:srgbClr val="F5F2DE"/>
                </a:solidFill>
                <a:latin typeface="Carlito"/>
              </a:rPr>
              <a:t xml:space="preserve">A decision should keep its supporting evidence and </a:t>
            </a:r>
            <a:endParaRPr lang="en-US" sz="3570"/>
          </a:p>
          <a:p>
            <a:pPr>
              <a:lnSpc>
                <a:spcPts val="4355"/>
              </a:lnSpc>
              <a:buNone/>
            </a:pPr>
            <a:r>
              <a:rPr lang="en-US" sz="3570" b="0" i="0">
                <a:solidFill>
                  <a:srgbClr val="F5F2DE"/>
                </a:solidFill>
                <a:latin typeface="Carlito"/>
              </a:rPr>
              <a:t xml:space="preserve">unresolved assumptions in view.</a:t>
            </a:r>
            <a:endParaRPr lang="en-US" sz="3570"/>
          </a:p>
        </p:txBody>
      </p:sp>
      <p:sp>
        <p:nvSpPr>
          <p:cNvPr id="5" name="Text 5"/>
          <p:cNvSpPr txBox="1"/>
          <p:nvPr/>
        </p:nvSpPr>
        <p:spPr>
          <a:xfrm>
            <a:off x="660400" y="5334000"/>
            <a:ext cx="10871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B6C3AF"/>
                </a:solidFill>
                <a:latin typeface="Carlito"/>
              </a:rPr>
              <a:t xml:space="preserve">Authored synthetic principle — not a customer quotation</a:t>
            </a:r>
            <a:endParaRPr lang="en-US" sz="2200"/>
          </a:p>
        </p:txBody>
      </p:sp>
      <p:sp>
        <p:nvSpPr>
          <p:cNvPr id="6" name="Shape 6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B6C3AF"/>
            </a:solidFill>
            <a:prstDash val="solid"/>
          </a:ln>
        </p:spPr>
      </p:sp>
      <p:sp>
        <p:nvSpPr>
          <p:cNvPr id="7" name="Text 7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8" name="Text 8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0D2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B6C3AF"/>
                </a:solidFill>
                <a:latin typeface="Carlito"/>
              </a:rPr>
              <a:t xml:space="preserve">CHOOSE WHERE THE COMPANY WILL SAY NO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F5F2DE"/>
                </a:solidFill>
                <a:latin typeface="Carlito"/>
              </a:rPr>
              <a:t xml:space="preserve">Risks to review before expansion</a:t>
            </a:r>
            <a:endParaRPr lang="en-US" sz="42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350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Keep the scope narrow. Check whether the new workflow adds manual effort or moves risk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elsewhere. Record the unresolved question instead of treating an assumption as a finding.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B6C3AF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0D2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B6C3AF"/>
                </a:solidFill>
                <a:latin typeface="Carlito"/>
              </a:rPr>
              <a:t xml:space="preserve">CHOOSE WHERE THE COMPANY WILL SAY NO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002"/>
              </a:lnSpc>
              <a:buNone/>
            </a:pPr>
            <a:r>
              <a:rPr lang="en-US" sz="4100" b="1" i="0">
                <a:solidFill>
                  <a:srgbClr val="F5F2DE"/>
                </a:solidFill>
                <a:latin typeface="Carlito"/>
              </a:rPr>
              <a:t xml:space="preserve">Next action: approve the pilot and own the </a:t>
            </a:r>
            <a:endParaRPr lang="en-US" sz="4100"/>
          </a:p>
          <a:p>
            <a:pPr>
              <a:lnSpc>
                <a:spcPts val="5002"/>
              </a:lnSpc>
              <a:buNone/>
            </a:pPr>
            <a:r>
              <a:rPr lang="en-US" sz="4100" b="1" i="0">
                <a:solidFill>
                  <a:srgbClr val="F5F2DE"/>
                </a:solidFill>
                <a:latin typeface="Carlito"/>
              </a:rPr>
              <a:t xml:space="preserve">review</a:t>
            </a:r>
            <a:endParaRPr lang="en-US" sz="4100"/>
          </a:p>
        </p:txBody>
      </p:sp>
      <p:sp>
        <p:nvSpPr>
          <p:cNvPr id="4" name="Shape 4"/>
          <p:cNvSpPr/>
          <p:nvPr/>
        </p:nvSpPr>
        <p:spPr>
          <a:xfrm>
            <a:off x="660400" y="2336800"/>
            <a:ext cx="5321300" cy="3505200"/>
          </a:xfrm>
          <a:prstGeom prst="roundRect">
            <a:avLst/>
          </a:prstGeom>
          <a:solidFill>
            <a:srgbClr val="1A393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63600" y="2540000"/>
            <a:ext cx="49149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F5F2DE"/>
                </a:solidFill>
                <a:latin typeface="Carlito"/>
              </a:rPr>
              <a:t xml:space="preserve">Owner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863600" y="3454400"/>
            <a:ext cx="4914900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Strategy owner owns the first milestone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and its evidence.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21300" cy="3505200"/>
          </a:xfrm>
          <a:prstGeom prst="roundRect">
            <a:avLst/>
          </a:prstGeom>
          <a:solidFill>
            <a:srgbClr val="1A3938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149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F5F2DE"/>
                </a:solidFill>
                <a:latin typeface="Carlito"/>
              </a:rPr>
              <a:t xml:space="preserve">Review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14900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Inspect the pilot evidence before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approving the next stage.</a:t>
            </a:r>
            <a:endParaRPr lang="en-US" sz="2200"/>
          </a:p>
        </p:txBody>
      </p:sp>
      <p:sp>
        <p:nvSpPr>
          <p:cNvPr id="10" name="Shape 10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B6C3AF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08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vestor">
  <a:themeElements>
    <a:clrScheme name="Storyboard">
      <a:dk1>
        <a:srgbClr val="F5F2DE"/>
      </a:dk1>
      <a:lt1>
        <a:srgbClr val="0D2425"/>
      </a:lt1>
      <a:dk2>
        <a:srgbClr val="B6C3AF"/>
      </a:dk2>
      <a:lt2>
        <a:srgbClr val="1A3938"/>
      </a:lt2>
      <a:accent1>
        <a:srgbClr val="DFCF87"/>
      </a:accent1>
      <a:accent2>
        <a:srgbClr val="B6C3AF"/>
      </a:accent2>
      <a:accent3>
        <a:srgbClr val="DFCF87"/>
      </a:accent3>
      <a:accent4>
        <a:srgbClr val="F5F2DE"/>
      </a:accent4>
      <a:accent5>
        <a:srgbClr val="B6C3AF"/>
      </a:accent5>
      <a:accent6>
        <a:srgbClr val="DFCF87"/>
      </a:accent6>
      <a:hlink>
        <a:srgbClr val="DFCF87"/>
      </a:hlink>
      <a:folHlink>
        <a:srgbClr val="B6C3AF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8</Slides>
  <Notes>8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Choose where the company will say no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bd32d2c4d98740d8baed69041a62b32ec2a6bb974259269cc259c4cd984d39ac</vt:lpwstr>
  </property>
</Properties>
</file>