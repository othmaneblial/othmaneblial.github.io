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lnSpc>
                <a:spcPts val="2196"/>
              </a:lnSpc>
              <a:buNone/>
            </a:pPr>
            <a:r>
              <a:rPr lang="en-US" sz="1800" b="0" i="0">
                <a:solidFill>
                  <a:srgbClr val="E5F0EE"/>
                </a:solidFill>
                <a:latin typeface="Carlito"/>
              </a:rPr>
              <a:t xml:space="preserve">Illustrative pilot checkpoints</a:t>
            </a:r>
            <a:endParaRPr lang="en-US" sz="1800"/>
          </a:p>
        </c:rich>
      </c:tx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score</c:v>
                </c:pt>
              </c:strCache>
            </c:strRef>
          </c:tx>
          <c:spPr>
            <a:solidFill>
              <a:srgbClr val="70DDB6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Pilot</c:v>
                </c:pt>
                <c:pt idx="2">
                  <c:v>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27</c:v>
                </c:pt>
                <c:pt idx="2">
                  <c:v>24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c:txPr>
        <c:crossAx val="2"/>
        <c:crosses val="autoZero"/>
      </c:catAx>
      <c:valAx>
        <c:axId val="2"/>
        <c:scaling>
          <c:orientation val="minMax"/>
        </c:scaling>
        <c:axPos val="l"/>
        <c:numFmt formatCode="General" sourceLinked="0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c:txPr>
        <c:crossAx val="1"/>
        <c:crosses val="autoZero"/>
        <c:crossBetween val="between"/>
      </c:valAx>
    </c:plotArea>
    <c:legend>
      <c:legendPos val="b"/>
    </c:legend>
    <c:plotVisOnly val="1"/>
  </c:chart>
  <c:spPr>
    <a:solidFill>
      <a:srgbClr val="101C22"/>
    </a:solidFill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security controls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REDUCE THE PATHS THAT CAN EXPOSE A PROJECT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The context for security controls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This fictional team needs a decision it can explain, execute, and revisit. An optional integration can access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more project content than it needs.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REDUCE THE PATHS THAT CAN EXPOSE A PROJECT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The problem is the missing decision boundary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An optional integration can access more project content than it needs.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REDUCE THE PATHS THAT CAN EXPOSE A PROJECT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Evidence to gather before committing</a:t>
            </a:r>
            <a:endParaRPr lang="en-US" sz="3200"/>
          </a:p>
        </p:txBody>
      </p:sp>
      <p:graphicFrame>
        <p:nvGraphicFramePr>
          <p:cNvPr id="4" name="Chart 4"/>
          <p:cNvGraphicFramePr/>
          <p:nvPr/>
        </p:nvGraphicFramePr>
        <p:xfrm>
          <a:off x="508000" y="2336800"/>
          <a:ext cx="11176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REDUCE THE PATHS THAT CAN EXPOSE A PROJECT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Two paths make the trade-off explicit</a:t>
            </a:r>
            <a:endParaRPr lang="en-US" sz="3200"/>
          </a:p>
        </p:txBody>
      </p:sp>
      <p:sp>
        <p:nvSpPr>
          <p:cNvPr id="4" name="Shape 4"/>
          <p:cNvSpPr/>
          <p:nvPr/>
        </p:nvSpPr>
        <p:spPr>
          <a:xfrm>
            <a:off x="5080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112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Grant broad project access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112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Bound each transfer explicitly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More focused initial work, with a clearer review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REDUCE THE PATHS THAT CAN EXPOSE A PROJECT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Recommend the bounded path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Permit only the selected text fields and keep credentials out of exports.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REDUCE THE PATHS THAT CAN EXPOSE A PROJECT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Risks to review before expansion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REDUCE THE PATHS THAT CAN EXPOSE A PROJECT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Next action: approve the pilot and own the review</a:t>
            </a:r>
            <a:endParaRPr lang="en-US" sz="3200"/>
          </a:p>
        </p:txBody>
      </p:sp>
      <p:sp>
        <p:nvSpPr>
          <p:cNvPr id="4" name="Shape 4"/>
          <p:cNvSpPr/>
          <p:nvPr/>
        </p:nvSpPr>
        <p:spPr>
          <a:xfrm>
            <a:off x="5080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112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112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Security owner owns the first milestone and its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Inspect the pilot evidence before approving the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al">
  <a:themeElements>
    <a:clrScheme name="Storyboard">
      <a:dk1>
        <a:srgbClr val="E5F0EE"/>
      </a:dk1>
      <a:lt1>
        <a:srgbClr val="101C22"/>
      </a:lt1>
      <a:dk2>
        <a:srgbClr val="9EB7B6"/>
      </a:dk2>
      <a:lt2>
        <a:srgbClr val="1A3037"/>
      </a:lt2>
      <a:accent1>
        <a:srgbClr val="70DDB6"/>
      </a:accent1>
      <a:accent2>
        <a:srgbClr val="9EB7B6"/>
      </a:accent2>
      <a:accent3>
        <a:srgbClr val="70DDB6"/>
      </a:accent3>
      <a:accent4>
        <a:srgbClr val="E5F0EE"/>
      </a:accent4>
      <a:accent5>
        <a:srgbClr val="9EB7B6"/>
      </a:accent5>
      <a:accent6>
        <a:srgbClr val="70DDB6"/>
      </a:accent6>
      <a:hlink>
        <a:srgbClr val="70DDB6"/>
      </a:hlink>
      <a:folHlink>
        <a:srgbClr val="9EB7B6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Reduce the paths that can expose a project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a2db44207aaf715977df6fedd78582fa1245b6e6d1ec2bfcdf57544333917cd9</vt:lpwstr>
  </property>
</Properties>
</file>