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lnSpc>
                <a:spcPts val="2196"/>
              </a:lnSpc>
              <a:buNone/>
            </a:pPr>
            <a:r>
              <a:rPr lang="en-US" sz="1800" b="0" i="0">
                <a:solidFill>
                  <a:srgbClr val="30251D"/>
                </a:solidFill>
                <a:latin typeface="Carlito"/>
              </a:rPr>
              <a:t xml:space="preserve">Illustrative pilot checkpoints</a:t>
            </a:r>
            <a:endParaRPr lang="en-US" sz="1800"/>
          </a:p>
        </c:rich>
      </c:tx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score</c:v>
                </c:pt>
              </c:strCache>
            </c:strRef>
          </c:tx>
          <c:spPr>
            <a:solidFill>
              <a:srgbClr val="A84729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Pilot</c:v>
                </c:pt>
                <c:pt idx="2">
                  <c:v>Review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24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txPr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30251D"/>
                </a:solidFill>
                <a:latin typeface="Carlito"/>
              </a:rPr>
              <a:t xml:space="preserve"/>
            </a:r>
            <a:endParaRPr lang="en-US" sz="1200"/>
          </a:p>
        </c:txPr>
        <c:crossAx val="2"/>
        <c:crosses val="autoZero"/>
      </c:catAx>
      <c:valAx>
        <c:axId val="2"/>
        <c:scaling>
          <c:orientation val="minMax"/>
        </c:scaling>
        <c:axPos val="l"/>
        <c:numFmt formatCode="General" sourceLinked="0"/>
        <c:txPr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30251D"/>
                </a:solidFill>
                <a:latin typeface="Carlito"/>
              </a:rPr>
              <a:t xml:space="preserve"/>
            </a:r>
            <a:endParaRPr lang="en-US" sz="1200"/>
          </a:p>
        </c:txPr>
        <c:crossAx val="1"/>
        <c:crosses val="autoZero"/>
        <c:crossBetween val="between"/>
      </c:valAx>
    </c:plotArea>
    <c:legend>
      <c:legendPos val="b"/>
    </c:legend>
    <c:plotVisOnly val="1"/>
  </c:chart>
  <c:spPr>
    <a:solidFill>
      <a:srgbClr val="F4EDE0"/>
    </a:solidFill>
  </c:spPr>
  <c:externalData r:id="rId1">
    <c:autoUpdate val="0"/>
  </c:externalData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30251D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30251D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30251D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30251D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30251D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30251D"/>
                </a:solidFill>
                <a:latin typeface="Carlito"/>
              </a:rPr>
              <a:t xml:space="preserve">Synthetic authored principle.</a:t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30251D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30251D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solution delivery"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8594A"/>
                </a:solidFill>
                <a:latin typeface="Carlito"/>
              </a:rPr>
              <a:t xml:space="preserve">A PROPOSAL BUILT AROUND ONE CUSTOMER OUTCOME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368"/>
              </a:lnSpc>
              <a:buNone/>
            </a:pPr>
            <a:r>
              <a:rPr lang="en-US" sz="4400" b="1" i="0">
                <a:solidFill>
                  <a:srgbClr val="30251D"/>
                </a:solidFill>
                <a:latin typeface="Carlito"/>
              </a:rPr>
              <a:t xml:space="preserve">The context for solution delivery</a:t>
            </a:r>
            <a:endParaRPr lang="en-US" sz="44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345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This fictional team needs a decision it can explain, execute, and revisit. The proposal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lists features without explaining the delivery trade-off.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8594A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8594A"/>
                </a:solidFill>
                <a:latin typeface="Carlito"/>
              </a:rPr>
              <a:t xml:space="preserve">A PROPOSAL BUILT AROUND ONE CUSTOMER OUTCOME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368"/>
              </a:lnSpc>
              <a:buNone/>
            </a:pPr>
            <a:r>
              <a:rPr lang="en-US" sz="4400" b="1" i="0">
                <a:solidFill>
                  <a:srgbClr val="30251D"/>
                </a:solidFill>
                <a:latin typeface="Carlito"/>
              </a:rPr>
              <a:t xml:space="preserve">The problem is the missing decision boundary</a:t>
            </a:r>
            <a:endParaRPr lang="en-US" sz="44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345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The proposal lists features without explaining the delivery trade-off.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8594A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8594A"/>
                </a:solidFill>
                <a:latin typeface="Carlito"/>
              </a:rPr>
              <a:t xml:space="preserve">A PROPOSAL BUILT AROUND ONE CUSTOMER OUTCOME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368"/>
              </a:lnSpc>
              <a:buNone/>
            </a:pPr>
            <a:r>
              <a:rPr lang="en-US" sz="4400" b="1" i="0">
                <a:solidFill>
                  <a:srgbClr val="30251D"/>
                </a:solidFill>
                <a:latin typeface="Carlito"/>
              </a:rPr>
              <a:t xml:space="preserve">Evidence to gather before committing</a:t>
            </a:r>
            <a:endParaRPr lang="en-US" sz="4400"/>
          </a:p>
        </p:txBody>
      </p:sp>
      <p:graphicFrame>
        <p:nvGraphicFramePr>
          <p:cNvPr id="4" name="Chart 4"/>
          <p:cNvGraphicFramePr/>
          <p:nvPr/>
        </p:nvGraphicFramePr>
        <p:xfrm>
          <a:off x="711200" y="2336800"/>
          <a:ext cx="10769600" cy="3454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8594A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8594A"/>
                </a:solidFill>
                <a:latin typeface="Carlito"/>
              </a:rPr>
              <a:t xml:space="preserve">A PROPOSAL BUILT AROUND ONE CUSTOMER OUTCOME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368"/>
              </a:lnSpc>
              <a:buNone/>
            </a:pPr>
            <a:r>
              <a:rPr lang="en-US" sz="4400" b="1" i="0">
                <a:solidFill>
                  <a:srgbClr val="30251D"/>
                </a:solidFill>
                <a:latin typeface="Carlito"/>
              </a:rPr>
              <a:t xml:space="preserve">Two paths make the trade-off explicit</a:t>
            </a:r>
            <a:endParaRPr lang="en-US" sz="4400"/>
          </a:p>
        </p:txBody>
      </p:sp>
      <p:sp>
        <p:nvSpPr>
          <p:cNvPr id="4" name="Shape 4"/>
          <p:cNvSpPr/>
          <p:nvPr/>
        </p:nvSpPr>
        <p:spPr>
          <a:xfrm>
            <a:off x="711200" y="2336800"/>
            <a:ext cx="5270500" cy="3454400"/>
          </a:xfrm>
          <a:prstGeom prst="roundRect">
            <a:avLst/>
          </a:prstGeom>
          <a:solidFill>
            <a:srgbClr val="E9DFC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14400" y="2540000"/>
            <a:ext cx="48641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30251D"/>
                </a:solidFill>
                <a:latin typeface="Carlito"/>
              </a:rPr>
              <a:t xml:space="preserve">Sell the full platform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914400" y="3454400"/>
            <a:ext cx="4864100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Faster to start, with the current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operating limitations.</a:t>
            </a:r>
            <a:endParaRPr lang="en-US" sz="24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270500" cy="3454400"/>
          </a:xfrm>
          <a:prstGeom prst="roundRect">
            <a:avLst/>
          </a:prstGeom>
          <a:solidFill>
            <a:srgbClr val="E9DFCE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8641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30251D"/>
                </a:solidFill>
                <a:latin typeface="Carlito"/>
              </a:rPr>
              <a:t xml:space="preserve">Scope one outcome first</a:t>
            </a:r>
            <a:endParaRPr lang="en-US" sz="26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864100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More focused initial work, with a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clearer review boundary.</a:t>
            </a:r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8594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8594A"/>
                </a:solidFill>
                <a:latin typeface="Carlito"/>
              </a:rPr>
              <a:t xml:space="preserve">A PROPOSAL BUILT AROUND ONE CUSTOMER OUTCOME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368"/>
              </a:lnSpc>
              <a:buNone/>
            </a:pPr>
            <a:r>
              <a:rPr lang="en-US" sz="4400" b="1" i="0">
                <a:solidFill>
                  <a:srgbClr val="30251D"/>
                </a:solidFill>
                <a:latin typeface="Carlito"/>
              </a:rPr>
              <a:t xml:space="preserve">Recommend the bounded path</a:t>
            </a:r>
            <a:endParaRPr lang="en-US" sz="44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345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Start with a fixed-scope implementation and a shared review checkpoint.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8594A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Keep the reasoning inspectable"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8594A"/>
                </a:solidFill>
                <a:latin typeface="Carlito"/>
              </a:rPr>
              <a:t xml:space="preserve">A PROPOSAL BUILT AROUND ONE CUSTOMER OUTCOME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368"/>
              </a:lnSpc>
              <a:buNone/>
            </a:pPr>
            <a:r>
              <a:rPr lang="en-US" sz="4400" b="1" i="0">
                <a:solidFill>
                  <a:srgbClr val="30251D"/>
                </a:solidFill>
                <a:latin typeface="Carlito"/>
              </a:rPr>
              <a:t xml:space="preserve">Keep the reasoning inspectable</a:t>
            </a:r>
            <a:endParaRPr lang="en-US" sz="44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284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563"/>
              </a:lnSpc>
              <a:buNone/>
            </a:pPr>
            <a:r>
              <a:rPr lang="en-US" sz="3740" b="0" i="0">
                <a:solidFill>
                  <a:srgbClr val="30251D"/>
                </a:solidFill>
                <a:latin typeface="Carlito"/>
              </a:rPr>
              <a:t xml:space="preserve">A decision should keep its supporting evidence and </a:t>
            </a:r>
            <a:endParaRPr lang="en-US" sz="3740"/>
          </a:p>
          <a:p>
            <a:pPr>
              <a:lnSpc>
                <a:spcPts val="4563"/>
              </a:lnSpc>
              <a:buNone/>
            </a:pPr>
            <a:r>
              <a:rPr lang="en-US" sz="3740" b="0" i="0">
                <a:solidFill>
                  <a:srgbClr val="30251D"/>
                </a:solidFill>
                <a:latin typeface="Carlito"/>
              </a:rPr>
              <a:t xml:space="preserve">unresolved assumptions in view.</a:t>
            </a:r>
            <a:endParaRPr lang="en-US" sz="3740"/>
          </a:p>
        </p:txBody>
      </p:sp>
      <p:sp>
        <p:nvSpPr>
          <p:cNvPr id="5" name="Text 5"/>
          <p:cNvSpPr txBox="1"/>
          <p:nvPr/>
        </p:nvSpPr>
        <p:spPr>
          <a:xfrm>
            <a:off x="711200" y="52832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68594A"/>
                </a:solidFill>
                <a:latin typeface="Carlito"/>
              </a:rPr>
              <a:t xml:space="preserve">Authored synthetic principle — not a customer quotation</a:t>
            </a:r>
            <a:endParaRPr lang="en-US" sz="2400"/>
          </a:p>
        </p:txBody>
      </p:sp>
      <p:sp>
        <p:nvSpPr>
          <p:cNvPr id="6" name="Shape 6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8594A"/>
            </a:solidFill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8" name="Text 8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8594A"/>
                </a:solidFill>
                <a:latin typeface="Carlito"/>
              </a:rPr>
              <a:t xml:space="preserve">A PROPOSAL BUILT AROUND ONE CUSTOMER OUTCOME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368"/>
              </a:lnSpc>
              <a:buNone/>
            </a:pPr>
            <a:r>
              <a:rPr lang="en-US" sz="4400" b="1" i="0">
                <a:solidFill>
                  <a:srgbClr val="30251D"/>
                </a:solidFill>
                <a:latin typeface="Carlito"/>
              </a:rPr>
              <a:t xml:space="preserve">Risks to review before expansion</a:t>
            </a:r>
            <a:endParaRPr lang="en-US" sz="4400"/>
          </a:p>
        </p:txBody>
      </p:sp>
      <p:sp>
        <p:nvSpPr>
          <p:cNvPr id="4" name="Text 4"/>
          <p:cNvSpPr txBox="1"/>
          <p:nvPr/>
        </p:nvSpPr>
        <p:spPr>
          <a:xfrm>
            <a:off x="711200" y="2336800"/>
            <a:ext cx="10769600" cy="345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Keep the scope narrow. Check whether the new workflow adds manual effort or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moves risk elsewhere. Record the unresolved question instead of treating an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assumption as a finding.</a:t>
            </a:r>
            <a:endParaRPr lang="en-US" sz="2400"/>
          </a:p>
        </p:txBody>
      </p:sp>
      <p:sp>
        <p:nvSpPr>
          <p:cNvPr id="5" name="Shape 5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8594A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F4ED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11200" y="3048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68594A"/>
                </a:solidFill>
                <a:latin typeface="Carlito"/>
              </a:rPr>
              <a:t xml:space="preserve">A PROPOSAL BUILT AROUND ONE CUSTOMER OUTCOME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711200" y="762000"/>
            <a:ext cx="107696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002"/>
              </a:lnSpc>
              <a:buNone/>
            </a:pPr>
            <a:r>
              <a:rPr lang="en-US" sz="4100" b="1" i="0">
                <a:solidFill>
                  <a:srgbClr val="30251D"/>
                </a:solidFill>
                <a:latin typeface="Carlito"/>
              </a:rPr>
              <a:t xml:space="preserve">Next action: approve the pilot and own the </a:t>
            </a:r>
            <a:endParaRPr lang="en-US" sz="4100"/>
          </a:p>
          <a:p>
            <a:pPr>
              <a:lnSpc>
                <a:spcPts val="5002"/>
              </a:lnSpc>
              <a:buNone/>
            </a:pPr>
            <a:r>
              <a:rPr lang="en-US" sz="4100" b="1" i="0">
                <a:solidFill>
                  <a:srgbClr val="30251D"/>
                </a:solidFill>
                <a:latin typeface="Carlito"/>
              </a:rPr>
              <a:t xml:space="preserve">review</a:t>
            </a:r>
            <a:endParaRPr lang="en-US" sz="4100"/>
          </a:p>
        </p:txBody>
      </p:sp>
      <p:sp>
        <p:nvSpPr>
          <p:cNvPr id="4" name="Shape 4"/>
          <p:cNvSpPr/>
          <p:nvPr/>
        </p:nvSpPr>
        <p:spPr>
          <a:xfrm>
            <a:off x="711200" y="2336800"/>
            <a:ext cx="5270500" cy="3454400"/>
          </a:xfrm>
          <a:prstGeom prst="roundRect">
            <a:avLst/>
          </a:prstGeom>
          <a:solidFill>
            <a:srgbClr val="E9DFCE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914400" y="2540000"/>
            <a:ext cx="48641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30251D"/>
                </a:solidFill>
                <a:latin typeface="Carlito"/>
              </a:rPr>
              <a:t xml:space="preserve">Owner</a:t>
            </a:r>
            <a:endParaRPr lang="en-US" sz="2600"/>
          </a:p>
        </p:txBody>
      </p:sp>
      <p:sp>
        <p:nvSpPr>
          <p:cNvPr id="6" name="Text 6"/>
          <p:cNvSpPr txBox="1"/>
          <p:nvPr/>
        </p:nvSpPr>
        <p:spPr>
          <a:xfrm>
            <a:off x="914400" y="3454400"/>
            <a:ext cx="4864100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Account owner owns the first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milestone and its evidence.</a:t>
            </a:r>
            <a:endParaRPr lang="en-US" sz="24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270500" cy="3454400"/>
          </a:xfrm>
          <a:prstGeom prst="roundRect">
            <a:avLst/>
          </a:prstGeom>
          <a:solidFill>
            <a:srgbClr val="E9DFCE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8641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3172"/>
              </a:lnSpc>
              <a:buNone/>
            </a:pPr>
            <a:r>
              <a:rPr lang="en-US" sz="2600" b="1" i="0">
                <a:solidFill>
                  <a:srgbClr val="30251D"/>
                </a:solidFill>
                <a:latin typeface="Carlito"/>
              </a:rPr>
              <a:t xml:space="preserve">Review</a:t>
            </a:r>
            <a:endParaRPr lang="en-US" sz="26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864100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Inspect the pilot evidence before </a:t>
            </a:r>
            <a:endParaRPr lang="en-US" sz="2400"/>
          </a:p>
          <a:p>
            <a:pPr>
              <a:lnSpc>
                <a:spcPts val="2928"/>
              </a:lnSpc>
              <a:buNone/>
            </a:pPr>
            <a:r>
              <a:rPr lang="en-US" sz="2400" b="0" i="0">
                <a:solidFill>
                  <a:srgbClr val="30251D"/>
                </a:solidFill>
                <a:latin typeface="Carlito"/>
              </a:rPr>
              <a:t xml:space="preserve">approving the next stage.</a:t>
            </a:r>
            <a:endParaRPr lang="en-US" sz="2400"/>
          </a:p>
        </p:txBody>
      </p:sp>
      <p:sp>
        <p:nvSpPr>
          <p:cNvPr id="10" name="Shape 10"/>
          <p:cNvSpPr/>
          <p:nvPr/>
        </p:nvSpPr>
        <p:spPr>
          <a:xfrm>
            <a:off x="711200" y="6375400"/>
            <a:ext cx="10769600" cy="6350"/>
          </a:xfrm>
          <a:prstGeom prst="line">
            <a:avLst/>
          </a:prstGeom>
          <a:noFill/>
          <a:ln w="6350">
            <a:solidFill>
              <a:srgbClr val="68594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711200" y="6502400"/>
            <a:ext cx="10007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093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68594A"/>
                </a:solidFill>
                <a:latin typeface="Carlito"/>
              </a:rPr>
              <a:t xml:space="preserve">08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Storyboard">
      <a:dk1>
        <a:srgbClr val="30251D"/>
      </a:dk1>
      <a:lt1>
        <a:srgbClr val="F4EDE0"/>
      </a:lt1>
      <a:dk2>
        <a:srgbClr val="68594A"/>
      </a:dk2>
      <a:lt2>
        <a:srgbClr val="E9DFCE"/>
      </a:lt2>
      <a:accent1>
        <a:srgbClr val="A84729"/>
      </a:accent1>
      <a:accent2>
        <a:srgbClr val="68594A"/>
      </a:accent2>
      <a:accent3>
        <a:srgbClr val="A84729"/>
      </a:accent3>
      <a:accent4>
        <a:srgbClr val="30251D"/>
      </a:accent4>
      <a:accent5>
        <a:srgbClr val="68594A"/>
      </a:accent5>
      <a:accent6>
        <a:srgbClr val="A84729"/>
      </a:accent6>
      <a:hlink>
        <a:srgbClr val="A84729"/>
      </a:hlink>
      <a:folHlink>
        <a:srgbClr val="68594A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8</Slides>
  <Notes>8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A proposal built around one customer outcome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4eacb995569831f38aca3c7ab4244ec56183932b31845b1ecba11855726bf422</vt:lpwstr>
  </property>
</Properties>
</file>