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DEF4DF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DEF4DF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DEF4DF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DEF4DF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DEF4DF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DEF4DF"/>
                </a:solidFill>
                <a:latin typeface="Carlito"/>
              </a:rPr>
              <a:t xml:space="preserve">Synthetic authored principle.</a:t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DEF4DF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DEF4DF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incident recovery">
    <p:bg>
      <p:bgPr>
        <a:solidFill>
          <a:srgbClr val="0E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2C5AA"/>
                </a:solidFill>
                <a:latin typeface="Carlito"/>
              </a:rPr>
              <a:t xml:space="preserve">TURN A RECOVERY INTO A RELIABILITY DECISION  /  PROBLEM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660"/>
              </a:lnSpc>
              <a:buNone/>
            </a:pPr>
            <a:r>
              <a:rPr lang="en-US" sz="3000" b="1" i="0">
                <a:solidFill>
                  <a:srgbClr val="DEF4DF"/>
                </a:solidFill>
                <a:latin typeface="Carlito"/>
              </a:rPr>
              <a:t xml:space="preserve">The context for incident recovery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This fictional team needs a decision it can explain, execute, and revisit. The service recovered but the same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dependency remains on the critical path.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A2C5A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0E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2C5AA"/>
                </a:solidFill>
                <a:latin typeface="Carlito"/>
              </a:rPr>
              <a:t xml:space="preserve">TURN A RECOVERY INTO A RELIABILITY DECISION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660"/>
              </a:lnSpc>
              <a:buNone/>
            </a:pPr>
            <a:r>
              <a:rPr lang="en-US" sz="3000" b="1" i="0">
                <a:solidFill>
                  <a:srgbClr val="DEF4DF"/>
                </a:solidFill>
                <a:latin typeface="Carlito"/>
              </a:rPr>
              <a:t xml:space="preserve">The problem is the missing decision boundary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The service recovered but the same dependency remains on the critical path.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A2C5A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0E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2C5AA"/>
                </a:solidFill>
                <a:latin typeface="Carlito"/>
              </a:rPr>
              <a:t xml:space="preserve">TURN A RECOVERY INTO A RELIABILITY DECISION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660"/>
              </a:lnSpc>
              <a:buNone/>
            </a:pPr>
            <a:r>
              <a:rPr lang="en-US" sz="3000" b="1" i="0">
                <a:solidFill>
                  <a:srgbClr val="DEF4DF"/>
                </a:solidFill>
                <a:latin typeface="Carlito"/>
              </a:rPr>
              <a:t xml:space="preserve">Evidence to gather before committing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1645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8296"/>
              </a:lnSpc>
              <a:buNone/>
            </a:pPr>
            <a:r>
              <a:rPr lang="en-US" sz="6800" b="1" i="0">
                <a:solidFill>
                  <a:srgbClr val="7CEC9D"/>
                </a:solidFill>
                <a:latin typeface="Carlito"/>
              </a:rPr>
              <a:t xml:space="preserve">1</a:t>
            </a:r>
            <a:endParaRPr lang="en-US" sz="6800"/>
          </a:p>
        </p:txBody>
      </p:sp>
      <p:sp>
        <p:nvSpPr>
          <p:cNvPr id="5" name="Text 5"/>
          <p:cNvSpPr txBox="1"/>
          <p:nvPr/>
        </p:nvSpPr>
        <p:spPr>
          <a:xfrm>
            <a:off x="508000" y="3982720"/>
            <a:ext cx="111760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DEF4DF"/>
                </a:solidFill>
                <a:latin typeface="Carlito"/>
              </a:rPr>
              <a:t xml:space="preserve">Bounded workflow first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08000" y="4897120"/>
            <a:ext cx="11176000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A2C5AA"/>
                </a:solidFill>
                <a:latin typeface="Carlito"/>
              </a:rPr>
              <a:t xml:space="preserve">An authored scope constraint for this fictional scenario, not a measured product result.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A2C5A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9" name="Text 9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0E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2C5AA"/>
                </a:solidFill>
                <a:latin typeface="Carlito"/>
              </a:rPr>
              <a:t xml:space="preserve">TURN A RECOVERY INTO A RELIABILITY DECISION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660"/>
              </a:lnSpc>
              <a:buNone/>
            </a:pPr>
            <a:r>
              <a:rPr lang="en-US" sz="3000" b="1" i="0">
                <a:solidFill>
                  <a:srgbClr val="DEF4DF"/>
                </a:solidFill>
                <a:latin typeface="Carlito"/>
              </a:rPr>
              <a:t xml:space="preserve">Two paths make the trade-off explicit</a:t>
            </a:r>
            <a:endParaRPr lang="en-US" sz="3000"/>
          </a:p>
        </p:txBody>
      </p:sp>
      <p:sp>
        <p:nvSpPr>
          <p:cNvPr id="4" name="Shape 4"/>
          <p:cNvSpPr/>
          <p:nvPr/>
        </p:nvSpPr>
        <p:spPr>
          <a:xfrm>
            <a:off x="508000" y="2336800"/>
            <a:ext cx="5473700" cy="3657600"/>
          </a:xfrm>
          <a:prstGeom prst="roundRect">
            <a:avLst/>
          </a:prstGeom>
          <a:solidFill>
            <a:srgbClr val="1A3021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112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DEF4DF"/>
                </a:solidFill>
                <a:latin typeface="Carlito"/>
              </a:rPr>
              <a:t xml:space="preserve">Patch the immediate trigger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112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73700" cy="3657600"/>
          </a:xfrm>
          <a:prstGeom prst="roundRect">
            <a:avLst/>
          </a:prstGeom>
          <a:solidFill>
            <a:srgbClr val="1A3021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DEF4DF"/>
                </a:solidFill>
                <a:latin typeface="Carlito"/>
              </a:rPr>
              <a:t xml:space="preserve">Remove the shared failure boundary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More focused initial work, with a clearer review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A2C5A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0E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2C5AA"/>
                </a:solidFill>
                <a:latin typeface="Carlito"/>
              </a:rPr>
              <a:t xml:space="preserve">TURN A RECOVERY INTO A RELIABILITY DECISION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660"/>
              </a:lnSpc>
              <a:buNone/>
            </a:pPr>
            <a:r>
              <a:rPr lang="en-US" sz="3000" b="1" i="0">
                <a:solidFill>
                  <a:srgbClr val="DEF4DF"/>
                </a:solidFill>
                <a:latin typeface="Carlito"/>
              </a:rPr>
              <a:t xml:space="preserve">Recommend the bounded path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Prioritize isolation and test the recovery procedure before closing the incident.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A2C5A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eep the reasoning inspectable">
    <p:bg>
      <p:bgPr>
        <a:solidFill>
          <a:srgbClr val="0E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2C5AA"/>
                </a:solidFill>
                <a:latin typeface="Carlito"/>
              </a:rPr>
              <a:t xml:space="preserve">TURN A RECOVERY INTO A RELIABILITY DECISION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660"/>
              </a:lnSpc>
              <a:buNone/>
            </a:pPr>
            <a:r>
              <a:rPr lang="en-US" sz="3000" b="1" i="0">
                <a:solidFill>
                  <a:srgbClr val="DEF4DF"/>
                </a:solidFill>
                <a:latin typeface="Carlito"/>
              </a:rPr>
              <a:t xml:space="preserve">Keep the reasoning inspectable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11"/>
              </a:lnSpc>
              <a:buNone/>
            </a:pPr>
            <a:r>
              <a:rPr lang="en-US" sz="2550" b="0" i="0">
                <a:solidFill>
                  <a:srgbClr val="DEF4DF"/>
                </a:solidFill>
                <a:latin typeface="Carlito"/>
              </a:rPr>
              <a:t xml:space="preserve">A decision should keep its supporting evidence and unresolved assumptions in view.</a:t>
            </a:r>
            <a:endParaRPr lang="en-US" sz="2550"/>
          </a:p>
        </p:txBody>
      </p:sp>
      <p:sp>
        <p:nvSpPr>
          <p:cNvPr id="5" name="Text 5"/>
          <p:cNvSpPr txBox="1"/>
          <p:nvPr/>
        </p:nvSpPr>
        <p:spPr>
          <a:xfrm>
            <a:off x="508000" y="54864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A2C5AA"/>
                </a:solidFill>
                <a:latin typeface="Carlito"/>
              </a:rPr>
              <a:t xml:space="preserve">Authored synthetic principle — not a customer quotation</a:t>
            </a:r>
            <a:endParaRPr lang="en-US" sz="2000"/>
          </a:p>
        </p:txBody>
      </p:sp>
      <p:sp>
        <p:nvSpPr>
          <p:cNvPr id="6" name="Shape 6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A2C5AA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8" name="Text 8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0E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2C5AA"/>
                </a:solidFill>
                <a:latin typeface="Carlito"/>
              </a:rPr>
              <a:t xml:space="preserve">TURN A RECOVERY INTO A RELIABILITY DECISION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660"/>
              </a:lnSpc>
              <a:buNone/>
            </a:pPr>
            <a:r>
              <a:rPr lang="en-US" sz="3000" b="1" i="0">
                <a:solidFill>
                  <a:srgbClr val="DEF4DF"/>
                </a:solidFill>
                <a:latin typeface="Carlito"/>
              </a:rPr>
              <a:t xml:space="preserve">Risks to review before expansion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08000" y="2336800"/>
            <a:ext cx="1117600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A2C5A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0E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3048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2C5AA"/>
                </a:solidFill>
                <a:latin typeface="Carlito"/>
              </a:rPr>
              <a:t xml:space="preserve">TURN A RECOVERY INTO A RELIABILITY DECISION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08000" y="762000"/>
            <a:ext cx="111760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660"/>
              </a:lnSpc>
              <a:buNone/>
            </a:pPr>
            <a:r>
              <a:rPr lang="en-US" sz="3000" b="1" i="0">
                <a:solidFill>
                  <a:srgbClr val="DEF4DF"/>
                </a:solidFill>
                <a:latin typeface="Carlito"/>
              </a:rPr>
              <a:t xml:space="preserve">Next action: approve the pilot and own the review</a:t>
            </a:r>
            <a:endParaRPr lang="en-US" sz="3000"/>
          </a:p>
        </p:txBody>
      </p:sp>
      <p:sp>
        <p:nvSpPr>
          <p:cNvPr id="4" name="Shape 4"/>
          <p:cNvSpPr/>
          <p:nvPr/>
        </p:nvSpPr>
        <p:spPr>
          <a:xfrm>
            <a:off x="508000" y="2336800"/>
            <a:ext cx="5473700" cy="3657600"/>
          </a:xfrm>
          <a:prstGeom prst="roundRect">
            <a:avLst/>
          </a:prstGeom>
          <a:solidFill>
            <a:srgbClr val="1A3021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112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DEF4DF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112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Reliability lead owns the first milestone and its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73700" cy="3657600"/>
          </a:xfrm>
          <a:prstGeom prst="roundRect">
            <a:avLst/>
          </a:prstGeom>
          <a:solidFill>
            <a:srgbClr val="1A3021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673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DEF4DF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67300" cy="233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Inspect the pilot evidence before approving the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DEF4DF"/>
                </a:solidFill>
                <a:latin typeface="Carlito"/>
              </a:rPr>
              <a:t xml:space="preserve">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08000" y="6375400"/>
            <a:ext cx="11176000" cy="6350"/>
          </a:xfrm>
          <a:prstGeom prst="line">
            <a:avLst/>
          </a:prstGeom>
          <a:noFill/>
          <a:ln w="6350">
            <a:solidFill>
              <a:srgbClr val="A2C5A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08000" y="65024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1125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2C5AA"/>
                </a:solidFill>
                <a:latin typeface="Carlito"/>
              </a:rPr>
              <a:t xml:space="preserve">08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inal">
  <a:themeElements>
    <a:clrScheme name="Storyboard">
      <a:dk1>
        <a:srgbClr val="DEF4DF"/>
      </a:dk1>
      <a:lt1>
        <a:srgbClr val="0E1D14"/>
      </a:lt1>
      <a:dk2>
        <a:srgbClr val="A2C5AA"/>
      </a:dk2>
      <a:lt2>
        <a:srgbClr val="1A3021"/>
      </a:lt2>
      <a:accent1>
        <a:srgbClr val="7CEC9D"/>
      </a:accent1>
      <a:accent2>
        <a:srgbClr val="A2C5AA"/>
      </a:accent2>
      <a:accent3>
        <a:srgbClr val="7CEC9D"/>
      </a:accent3>
      <a:accent4>
        <a:srgbClr val="DEF4DF"/>
      </a:accent4>
      <a:accent5>
        <a:srgbClr val="A2C5AA"/>
      </a:accent5>
      <a:accent6>
        <a:srgbClr val="7CEC9D"/>
      </a:accent6>
      <a:hlink>
        <a:srgbClr val="7CEC9D"/>
      </a:hlink>
      <a:folHlink>
        <a:srgbClr val="A2C5AA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8</Slides>
  <Notes>8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Turn a recovery into a reliability decision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1e061b5b49866ebbfefe9cbcc9c9f122ee6a916c0527af3e3bbe3ff1437f90dc</vt:lpwstr>
  </property>
</Properties>
</file>